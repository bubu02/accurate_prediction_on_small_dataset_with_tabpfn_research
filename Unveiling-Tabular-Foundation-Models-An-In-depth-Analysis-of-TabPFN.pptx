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IBM Plex Sans Medium" panose="020B0603050203000203" pitchFamily="34" charset="0"/>
      <p:regular r:id="rId17"/>
    </p:embeddedFont>
    <p:embeddedFont>
      <p:font typeface="Roboto" panose="02000000000000000000" pitchFamily="2"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8" d="100"/>
          <a:sy n="58" d="100"/>
        </p:scale>
        <p:origin x="52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96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83237"/>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Unveiling Tabular Foundation Models: An In-depth Analysis of TabPFN</a:t>
            </a:r>
            <a:endParaRPr lang="en-US" sz="3900" dirty="0"/>
          </a:p>
        </p:txBody>
      </p:sp>
      <p:sp>
        <p:nvSpPr>
          <p:cNvPr id="4" name="Text 1"/>
          <p:cNvSpPr/>
          <p:nvPr/>
        </p:nvSpPr>
        <p:spPr>
          <a:xfrm>
            <a:off x="6280190" y="4241125"/>
            <a:ext cx="7556421" cy="190523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This presentation delves into the exciting realm of Tabular Foundation Models, specifically focusing on a comprehensive analysis of TabPFN. We will explore its innovative approach to tabular data, the motivations behind our detailed investigation, and the methodical steps we took to uncover its true capabilities. Join us as we navigate through our experimental design, present key findings, and discuss the implications and limitations of this groundbreaking model.</a:t>
            </a:r>
            <a:endParaRPr lang="en-US" sz="1550" dirty="0"/>
          </a:p>
        </p:txBody>
      </p:sp>
      <p:sp>
        <p:nvSpPr>
          <p:cNvPr id="5" name="Rectangle 4">
            <a:extLst>
              <a:ext uri="{FF2B5EF4-FFF2-40B4-BE49-F238E27FC236}">
                <a16:creationId xmlns:a16="http://schemas.microsoft.com/office/drawing/2014/main" id="{091384E9-482B-B9AF-F843-89CD9AD7DABC}"/>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3694"/>
            <a:ext cx="8345091"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What is a Tabular Foundation Model?</a:t>
            </a:r>
            <a:endParaRPr lang="en-US" sz="3900" dirty="0"/>
          </a:p>
        </p:txBody>
      </p:sp>
      <p:sp>
        <p:nvSpPr>
          <p:cNvPr id="3" name="Text 1"/>
          <p:cNvSpPr/>
          <p:nvPr/>
        </p:nvSpPr>
        <p:spPr>
          <a:xfrm>
            <a:off x="793790" y="1901428"/>
            <a:ext cx="6989445" cy="372070"/>
          </a:xfrm>
          <a:prstGeom prst="rect">
            <a:avLst/>
          </a:prstGeom>
          <a:noFill/>
          <a:ln/>
        </p:spPr>
        <p:txBody>
          <a:bodyPr wrap="none" lIns="0" tIns="0" rIns="0" bIns="0" rtlCol="0" anchor="t"/>
          <a:lstStyle/>
          <a:p>
            <a:pPr marL="0" indent="0" algn="l">
              <a:lnSpc>
                <a:spcPts val="2900"/>
              </a:lnSpc>
              <a:buNone/>
            </a:pPr>
            <a:r>
              <a:rPr lang="en-US" sz="2300" dirty="0">
                <a:solidFill>
                  <a:srgbClr val="F3F3F2"/>
                </a:solidFill>
                <a:latin typeface="IBM Plex Sans Medium" pitchFamily="34" charset="0"/>
                <a:ea typeface="IBM Plex Sans Medium" pitchFamily="34" charset="-122"/>
                <a:cs typeface="IBM Plex Sans Medium" pitchFamily="34" charset="-120"/>
              </a:rPr>
              <a:t>Brief overview of TabPFN’s purpose and innovation.</a:t>
            </a:r>
            <a:endParaRPr lang="en-US" sz="2300" dirty="0"/>
          </a:p>
        </p:txBody>
      </p:sp>
      <p:sp>
        <p:nvSpPr>
          <p:cNvPr id="4" name="Shape 2"/>
          <p:cNvSpPr/>
          <p:nvPr/>
        </p:nvSpPr>
        <p:spPr>
          <a:xfrm>
            <a:off x="793790" y="2571155"/>
            <a:ext cx="4215289"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5" name="Shape 3"/>
          <p:cNvSpPr/>
          <p:nvPr/>
        </p:nvSpPr>
        <p:spPr>
          <a:xfrm>
            <a:off x="770930" y="2571155"/>
            <a:ext cx="91440" cy="4674751"/>
          </a:xfrm>
          <a:prstGeom prst="roundRect">
            <a:avLst>
              <a:gd name="adj" fmla="val 32558"/>
            </a:avLst>
          </a:prstGeom>
          <a:solidFill>
            <a:srgbClr val="FFBC8F"/>
          </a:solidFill>
          <a:ln/>
        </p:spPr>
        <p:txBody>
          <a:bodyPr/>
          <a:lstStyle/>
          <a:p>
            <a:endParaRPr lang="en-IN"/>
          </a:p>
        </p:txBody>
      </p:sp>
      <p:sp>
        <p:nvSpPr>
          <p:cNvPr id="6" name="Text 4"/>
          <p:cNvSpPr/>
          <p:nvPr/>
        </p:nvSpPr>
        <p:spPr>
          <a:xfrm>
            <a:off x="1083588" y="279237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Addressing Tabular Data Challenges</a:t>
            </a:r>
            <a:endParaRPr lang="en-US" sz="1950" dirty="0"/>
          </a:p>
        </p:txBody>
      </p:sp>
      <p:sp>
        <p:nvSpPr>
          <p:cNvPr id="7" name="Text 5"/>
          <p:cNvSpPr/>
          <p:nvPr/>
        </p:nvSpPr>
        <p:spPr>
          <a:xfrm>
            <a:off x="1083588" y="3531751"/>
            <a:ext cx="3704273" cy="285785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Tabular data, despite its prevalence, presents unique challenges for traditional deep learning models, often due to its non-Euclidean nature, mixed data types, and varying feature importances. Tabular Foundation Models aim to overcome these hurdles by learning rich, transferable representations directly from diverse tabular datasets.</a:t>
            </a:r>
            <a:endParaRPr lang="en-US" sz="1550" dirty="0"/>
          </a:p>
        </p:txBody>
      </p:sp>
      <p:sp>
        <p:nvSpPr>
          <p:cNvPr id="8" name="Shape 6"/>
          <p:cNvSpPr/>
          <p:nvPr/>
        </p:nvSpPr>
        <p:spPr>
          <a:xfrm>
            <a:off x="5207437" y="2571155"/>
            <a:ext cx="4215408"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9" name="Shape 7"/>
          <p:cNvSpPr/>
          <p:nvPr/>
        </p:nvSpPr>
        <p:spPr>
          <a:xfrm>
            <a:off x="5184577" y="2571155"/>
            <a:ext cx="91440" cy="4674751"/>
          </a:xfrm>
          <a:prstGeom prst="roundRect">
            <a:avLst>
              <a:gd name="adj" fmla="val 32558"/>
            </a:avLst>
          </a:prstGeom>
          <a:solidFill>
            <a:srgbClr val="FFBC8F"/>
          </a:solidFill>
          <a:ln/>
        </p:spPr>
        <p:txBody>
          <a:bodyPr/>
          <a:lstStyle/>
          <a:p>
            <a:endParaRPr lang="en-IN"/>
          </a:p>
        </p:txBody>
      </p:sp>
      <p:sp>
        <p:nvSpPr>
          <p:cNvPr id="10" name="Text 8"/>
          <p:cNvSpPr/>
          <p:nvPr/>
        </p:nvSpPr>
        <p:spPr>
          <a:xfrm>
            <a:off x="5497235" y="2792373"/>
            <a:ext cx="2932509"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The Innovation of TabPFN</a:t>
            </a:r>
            <a:endParaRPr lang="en-US" sz="1950" dirty="0"/>
          </a:p>
        </p:txBody>
      </p:sp>
      <p:sp>
        <p:nvSpPr>
          <p:cNvPr id="11" name="Text 9"/>
          <p:cNvSpPr/>
          <p:nvPr/>
        </p:nvSpPr>
        <p:spPr>
          <a:xfrm>
            <a:off x="5497235" y="3221593"/>
            <a:ext cx="3704392" cy="349293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TabPFN (Tabular Prior-data Fitted Network) represents a paradigm shift. Unlike conventional models that require extensive fine-tuning or architecture search for each new tabular dataset, TabPFN is a "prior-data fitted" network. This means it's trained once on a vast synthetic dataset generated from a Bayesian prior, effectively learning to perform inference on new tabular data without explicit training.</a:t>
            </a:r>
            <a:endParaRPr lang="en-US" sz="1550" dirty="0"/>
          </a:p>
        </p:txBody>
      </p:sp>
      <p:sp>
        <p:nvSpPr>
          <p:cNvPr id="12" name="Shape 10"/>
          <p:cNvSpPr/>
          <p:nvPr/>
        </p:nvSpPr>
        <p:spPr>
          <a:xfrm>
            <a:off x="9621203" y="2571155"/>
            <a:ext cx="4215289" cy="4674751"/>
          </a:xfrm>
          <a:prstGeom prst="roundRect">
            <a:avLst>
              <a:gd name="adj" fmla="val 2603"/>
            </a:avLst>
          </a:prstGeom>
          <a:solidFill>
            <a:srgbClr val="292C32"/>
          </a:solidFill>
          <a:ln w="22860">
            <a:solidFill>
              <a:srgbClr val="61646A"/>
            </a:solidFill>
            <a:prstDash val="solid"/>
          </a:ln>
        </p:spPr>
        <p:txBody>
          <a:bodyPr/>
          <a:lstStyle/>
          <a:p>
            <a:endParaRPr lang="en-IN"/>
          </a:p>
        </p:txBody>
      </p:sp>
      <p:sp>
        <p:nvSpPr>
          <p:cNvPr id="13" name="Shape 11"/>
          <p:cNvSpPr/>
          <p:nvPr/>
        </p:nvSpPr>
        <p:spPr>
          <a:xfrm>
            <a:off x="9598343" y="2571155"/>
            <a:ext cx="91440" cy="4674751"/>
          </a:xfrm>
          <a:prstGeom prst="roundRect">
            <a:avLst>
              <a:gd name="adj" fmla="val 32558"/>
            </a:avLst>
          </a:prstGeom>
          <a:solidFill>
            <a:srgbClr val="FFBC8F"/>
          </a:solidFill>
          <a:ln/>
        </p:spPr>
        <p:txBody>
          <a:bodyPr/>
          <a:lstStyle/>
          <a:p>
            <a:endParaRPr lang="en-IN"/>
          </a:p>
        </p:txBody>
      </p:sp>
      <p:sp>
        <p:nvSpPr>
          <p:cNvPr id="14" name="Text 12"/>
          <p:cNvSpPr/>
          <p:nvPr/>
        </p:nvSpPr>
        <p:spPr>
          <a:xfrm>
            <a:off x="9911001" y="279237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Key Advantage: Speed &amp; Performance</a:t>
            </a:r>
            <a:endParaRPr lang="en-US" sz="1950" dirty="0"/>
          </a:p>
        </p:txBody>
      </p:sp>
      <p:sp>
        <p:nvSpPr>
          <p:cNvPr id="15" name="Text 13"/>
          <p:cNvSpPr/>
          <p:nvPr/>
        </p:nvSpPr>
        <p:spPr>
          <a:xfrm>
            <a:off x="9911001" y="3531751"/>
            <a:ext cx="3704273" cy="3492937"/>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Its primary innovation lies in its ability to deliver competitive performance on small to medium-sized tabular datasets with remarkable speed. By amortizing the training cost over a multitude of synthetic datasets, TabPFN can make predictions almost instantly on unseen data, making it highly suitable for applications requiring rapid model deployment or real-time inference without extensive computational resources.</a:t>
            </a:r>
            <a:endParaRPr lang="en-US" sz="1550" dirty="0"/>
          </a:p>
        </p:txBody>
      </p:sp>
      <p:sp>
        <p:nvSpPr>
          <p:cNvPr id="16" name="Rectangle 15">
            <a:extLst>
              <a:ext uri="{FF2B5EF4-FFF2-40B4-BE49-F238E27FC236}">
                <a16:creationId xmlns:a16="http://schemas.microsoft.com/office/drawing/2014/main" id="{ECDC6351-1408-A4E1-CC49-3A780D29867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9129" y="446246"/>
            <a:ext cx="4220766" cy="507206"/>
          </a:xfrm>
          <a:prstGeom prst="rect">
            <a:avLst/>
          </a:prstGeom>
          <a:noFill/>
          <a:ln/>
        </p:spPr>
        <p:txBody>
          <a:bodyPr wrap="none" lIns="0" tIns="0" rIns="0" bIns="0" rtlCol="0" anchor="t"/>
          <a:lstStyle/>
          <a:p>
            <a:pPr marL="0" indent="0" algn="l">
              <a:lnSpc>
                <a:spcPts val="3950"/>
              </a:lnSpc>
              <a:buNone/>
            </a:pPr>
            <a:r>
              <a:rPr lang="en-US" sz="3150" dirty="0">
                <a:solidFill>
                  <a:srgbClr val="F3F3F2"/>
                </a:solidFill>
                <a:latin typeface="IBM Plex Sans Medium" pitchFamily="34" charset="0"/>
                <a:ea typeface="IBM Plex Sans Medium" pitchFamily="34" charset="-122"/>
                <a:cs typeface="IBM Plex Sans Medium" pitchFamily="34" charset="-120"/>
              </a:rPr>
              <a:t>Motivation for Analysis</a:t>
            </a:r>
            <a:endParaRPr lang="en-US" sz="3150" dirty="0"/>
          </a:p>
        </p:txBody>
      </p:sp>
      <p:sp>
        <p:nvSpPr>
          <p:cNvPr id="3" name="Text 1"/>
          <p:cNvSpPr/>
          <p:nvPr/>
        </p:nvSpPr>
        <p:spPr>
          <a:xfrm>
            <a:off x="649129" y="1196816"/>
            <a:ext cx="7304842" cy="304324"/>
          </a:xfrm>
          <a:prstGeom prst="rect">
            <a:avLst/>
          </a:prstGeom>
          <a:noFill/>
          <a:ln/>
        </p:spPr>
        <p:txBody>
          <a:bodyPr wrap="none" lIns="0" tIns="0" rIns="0" bIns="0" rtlCol="0" anchor="t"/>
          <a:lstStyle/>
          <a:p>
            <a:pPr marL="0" indent="0" algn="l">
              <a:lnSpc>
                <a:spcPts val="2350"/>
              </a:lnSpc>
              <a:buNone/>
            </a:pPr>
            <a:r>
              <a:rPr lang="en-US" sz="1900" dirty="0">
                <a:solidFill>
                  <a:srgbClr val="F3F3F2"/>
                </a:solidFill>
                <a:latin typeface="IBM Plex Sans Medium" pitchFamily="34" charset="0"/>
                <a:ea typeface="IBM Plex Sans Medium" pitchFamily="34" charset="-122"/>
                <a:cs typeface="IBM Plex Sans Medium" pitchFamily="34" charset="-120"/>
              </a:rPr>
              <a:t>Why analyze TabPFN? Use key figures from the paper to illustrate.</a:t>
            </a:r>
            <a:endParaRPr lang="en-US" sz="1900" dirty="0"/>
          </a:p>
        </p:txBody>
      </p:sp>
      <p:sp>
        <p:nvSpPr>
          <p:cNvPr id="4" name="Text 2"/>
          <p:cNvSpPr/>
          <p:nvPr/>
        </p:nvSpPr>
        <p:spPr>
          <a:xfrm>
            <a:off x="649129" y="1890474"/>
            <a:ext cx="6468189" cy="1038225"/>
          </a:xfrm>
          <a:prstGeom prst="rect">
            <a:avLst/>
          </a:prstGeom>
          <a:noFill/>
          <a:ln/>
        </p:spPr>
        <p:txBody>
          <a:bodyPr wrap="squar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Our decision to conduct a rigorous analysis of TabPFN stemmed from several compelling reasons, primarily driven by the ambitious claims and promising preliminary results presented in its original paper. Understanding the model's practical applicability and limitations is crucial for its adoption in real-world machine learning pipelines.</a:t>
            </a:r>
            <a:endParaRPr lang="en-US" sz="1250" dirty="0"/>
          </a:p>
        </p:txBody>
      </p:sp>
      <p:sp>
        <p:nvSpPr>
          <p:cNvPr id="5" name="Text 3"/>
          <p:cNvSpPr/>
          <p:nvPr/>
        </p:nvSpPr>
        <p:spPr>
          <a:xfrm>
            <a:off x="649129" y="3074670"/>
            <a:ext cx="6468189" cy="1038225"/>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Performance Validation:</a:t>
            </a:r>
            <a:r>
              <a:rPr lang="en-US" sz="1250" dirty="0">
                <a:solidFill>
                  <a:srgbClr val="D4D4D1"/>
                </a:solidFill>
                <a:latin typeface="Roboto" pitchFamily="34" charset="0"/>
                <a:ea typeface="Roboto" pitchFamily="34" charset="-122"/>
                <a:cs typeface="Roboto" pitchFamily="34" charset="-120"/>
              </a:rPr>
              <a:t> The paper reported state-of-the-art performance on various tabular benchmarks, often outperforming established models like XGBoost and LightGBM. Our analysis aimed to independently validate these claims across a diverse set of real-world datasets.</a:t>
            </a:r>
            <a:endParaRPr lang="en-US" sz="1250" dirty="0"/>
          </a:p>
        </p:txBody>
      </p:sp>
      <p:sp>
        <p:nvSpPr>
          <p:cNvPr id="6" name="Text 4"/>
          <p:cNvSpPr/>
          <p:nvPr/>
        </p:nvSpPr>
        <p:spPr>
          <a:xfrm>
            <a:off x="649129" y="4169688"/>
            <a:ext cx="6468189" cy="1038225"/>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Robustness Assessment:</a:t>
            </a:r>
            <a:r>
              <a:rPr lang="en-US" sz="1250" dirty="0">
                <a:solidFill>
                  <a:srgbClr val="D4D4D1"/>
                </a:solidFill>
                <a:latin typeface="Roboto" pitchFamily="34" charset="0"/>
                <a:ea typeface="Roboto" pitchFamily="34" charset="-122"/>
                <a:cs typeface="Roboto" pitchFamily="34" charset="-120"/>
              </a:rPr>
              <a:t> We sought to understand TabPFN's robustness to different data characteristics, including varying sample sizes, feature counts, and target class distributions. This is critical for assessing its generalizability beyond the curated benchmarks.</a:t>
            </a:r>
            <a:endParaRPr lang="en-US" sz="1250" dirty="0"/>
          </a:p>
        </p:txBody>
      </p:sp>
      <p:sp>
        <p:nvSpPr>
          <p:cNvPr id="7" name="Text 5"/>
          <p:cNvSpPr/>
          <p:nvPr/>
        </p:nvSpPr>
        <p:spPr>
          <a:xfrm>
            <a:off x="649129" y="5264706"/>
            <a:ext cx="6468189" cy="77866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Computational Efficiency:</a:t>
            </a:r>
            <a:r>
              <a:rPr lang="en-US" sz="1250" dirty="0">
                <a:solidFill>
                  <a:srgbClr val="D4D4D1"/>
                </a:solidFill>
                <a:latin typeface="Roboto" pitchFamily="34" charset="0"/>
                <a:ea typeface="Roboto" pitchFamily="34" charset="-122"/>
                <a:cs typeface="Roboto" pitchFamily="34" charset="-120"/>
              </a:rPr>
              <a:t> While its inference speed is a core claim, we wanted to quantify its practical computational footprint compared to iterative training methods, especially on larger datasets where the "fitted" nature might become a bottleneck.</a:t>
            </a:r>
            <a:endParaRPr lang="en-US" sz="1250" dirty="0"/>
          </a:p>
        </p:txBody>
      </p:sp>
      <p:sp>
        <p:nvSpPr>
          <p:cNvPr id="8" name="Text 6"/>
          <p:cNvSpPr/>
          <p:nvPr/>
        </p:nvSpPr>
        <p:spPr>
          <a:xfrm>
            <a:off x="649129" y="6100167"/>
            <a:ext cx="6468189" cy="77866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D4D4D1"/>
                </a:solidFill>
                <a:latin typeface="Roboto" pitchFamily="34" charset="0"/>
                <a:ea typeface="Roboto" pitchFamily="34" charset="-122"/>
                <a:cs typeface="Roboto" pitchFamily="34" charset="-120"/>
              </a:rPr>
              <a:t>Reproducibility &amp; Mismatches:</a:t>
            </a:r>
            <a:r>
              <a:rPr lang="en-US" sz="1250" dirty="0">
                <a:solidFill>
                  <a:srgbClr val="D4D4D1"/>
                </a:solidFill>
                <a:latin typeface="Roboto" pitchFamily="34" charset="0"/>
                <a:ea typeface="Roboto" pitchFamily="34" charset="-122"/>
                <a:cs typeface="Roboto" pitchFamily="34" charset="-120"/>
              </a:rPr>
              <a:t> A key motivation was to reproduce the reported results and identify any discrepancies or nuances not explicitly detailed in the paper, contributing to the transparency and reliability of machine learning research.</a:t>
            </a:r>
            <a:endParaRPr lang="en-US" sz="1250" dirty="0"/>
          </a:p>
        </p:txBody>
      </p:sp>
      <p:sp>
        <p:nvSpPr>
          <p:cNvPr id="10" name="Text 7"/>
          <p:cNvSpPr/>
          <p:nvPr/>
        </p:nvSpPr>
        <p:spPr>
          <a:xfrm>
            <a:off x="7520702" y="6535103"/>
            <a:ext cx="6468189" cy="1297781"/>
          </a:xfrm>
          <a:prstGeom prst="rect">
            <a:avLst/>
          </a:prstGeom>
          <a:noFill/>
          <a:ln/>
        </p:spPr>
        <p:txBody>
          <a:bodyPr wrap="squar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The original TabPFN paper highlighted its superior performance, as illustrated by figures showcasing accuracy improvements and reduced training times compared to conventional tabular models. Our analysis aimed to independently verify these promising results across a broader range of practical scenarios, ensuring that these benefits translate reliably to diverse real-world datasets and operational constraints.</a:t>
            </a:r>
            <a:endParaRPr lang="en-US" sz="1250" dirty="0"/>
          </a:p>
        </p:txBody>
      </p:sp>
      <p:sp>
        <p:nvSpPr>
          <p:cNvPr id="11" name="Rectangle 10">
            <a:extLst>
              <a:ext uri="{FF2B5EF4-FFF2-40B4-BE49-F238E27FC236}">
                <a16:creationId xmlns:a16="http://schemas.microsoft.com/office/drawing/2014/main" id="{D5D62B01-37C3-81F0-43F3-5D3CC7D820F2}"/>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524152D2-888A-5021-E651-3306FCF255B5}"/>
              </a:ext>
            </a:extLst>
          </p:cNvPr>
          <p:cNvPicPr>
            <a:picLocks noChangeAspect="1"/>
          </p:cNvPicPr>
          <p:nvPr/>
        </p:nvPicPr>
        <p:blipFill>
          <a:blip r:embed="rId3"/>
          <a:stretch>
            <a:fillRect/>
          </a:stretch>
        </p:blipFill>
        <p:spPr>
          <a:xfrm>
            <a:off x="7520702" y="1606850"/>
            <a:ext cx="6361309" cy="48225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178" y="452438"/>
            <a:ext cx="5580221" cy="514112"/>
          </a:xfrm>
          <a:prstGeom prst="rect">
            <a:avLst/>
          </a:prstGeom>
          <a:noFill/>
          <a:ln/>
        </p:spPr>
        <p:txBody>
          <a:bodyPr wrap="none" lIns="0" tIns="0" rIns="0" bIns="0" rtlCol="0" anchor="t"/>
          <a:lstStyle/>
          <a:p>
            <a:pPr marL="0" indent="0" algn="l">
              <a:lnSpc>
                <a:spcPts val="4000"/>
              </a:lnSpc>
              <a:buNone/>
            </a:pPr>
            <a:r>
              <a:rPr lang="en-US" sz="3200" dirty="0">
                <a:solidFill>
                  <a:srgbClr val="F3F3F2"/>
                </a:solidFill>
                <a:latin typeface="IBM Plex Sans Medium" pitchFamily="34" charset="0"/>
                <a:ea typeface="IBM Plex Sans Medium" pitchFamily="34" charset="-122"/>
                <a:cs typeface="IBM Plex Sans Medium" pitchFamily="34" charset="-120"/>
              </a:rPr>
              <a:t>How We Planned the Analysis</a:t>
            </a:r>
            <a:endParaRPr lang="en-US" sz="3200" dirty="0"/>
          </a:p>
        </p:txBody>
      </p:sp>
      <p:sp>
        <p:nvSpPr>
          <p:cNvPr id="3" name="Text 1"/>
          <p:cNvSpPr/>
          <p:nvPr/>
        </p:nvSpPr>
        <p:spPr>
          <a:xfrm>
            <a:off x="658178" y="1213366"/>
            <a:ext cx="5030033" cy="308491"/>
          </a:xfrm>
          <a:prstGeom prst="rect">
            <a:avLst/>
          </a:prstGeom>
          <a:noFill/>
          <a:ln/>
        </p:spPr>
        <p:txBody>
          <a:bodyPr wrap="none" lIns="0" tIns="0" rIns="0" bIns="0" rtlCol="0" anchor="t"/>
          <a:lstStyle/>
          <a:p>
            <a:pPr marL="0" indent="0" algn="l">
              <a:lnSpc>
                <a:spcPts val="2400"/>
              </a:lnSpc>
              <a:buNone/>
            </a:pPr>
            <a:r>
              <a:rPr lang="en-US" sz="1900" dirty="0">
                <a:solidFill>
                  <a:srgbClr val="F3F3F2"/>
                </a:solidFill>
                <a:latin typeface="IBM Plex Sans Medium" pitchFamily="34" charset="0"/>
                <a:ea typeface="IBM Plex Sans Medium" pitchFamily="34" charset="-122"/>
                <a:cs typeface="IBM Plex Sans Medium" pitchFamily="34" charset="-120"/>
              </a:rPr>
              <a:t>Summarize our experimental plan and goals.</a:t>
            </a:r>
            <a:endParaRPr lang="en-US" sz="1900" dirty="0"/>
          </a:p>
        </p:txBody>
      </p:sp>
      <p:sp>
        <p:nvSpPr>
          <p:cNvPr id="4" name="Shape 2"/>
          <p:cNvSpPr/>
          <p:nvPr/>
        </p:nvSpPr>
        <p:spPr>
          <a:xfrm>
            <a:off x="658178" y="1768673"/>
            <a:ext cx="370165" cy="370165"/>
          </a:xfrm>
          <a:prstGeom prst="roundRect">
            <a:avLst>
              <a:gd name="adj" fmla="val 6668"/>
            </a:avLst>
          </a:prstGeom>
          <a:solidFill>
            <a:srgbClr val="484B51"/>
          </a:solidFill>
          <a:ln/>
        </p:spPr>
        <p:txBody>
          <a:bodyPr/>
          <a:lstStyle/>
          <a:p>
            <a:endParaRPr lang="en-IN"/>
          </a:p>
        </p:txBody>
      </p:sp>
      <p:sp>
        <p:nvSpPr>
          <p:cNvPr id="5" name="Text 3"/>
          <p:cNvSpPr/>
          <p:nvPr/>
        </p:nvSpPr>
        <p:spPr>
          <a:xfrm>
            <a:off x="719792" y="1799451"/>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1</a:t>
            </a:r>
            <a:endParaRPr lang="en-US" sz="1900" dirty="0"/>
          </a:p>
        </p:txBody>
      </p:sp>
      <p:sp>
        <p:nvSpPr>
          <p:cNvPr id="6" name="Text 4"/>
          <p:cNvSpPr/>
          <p:nvPr/>
        </p:nvSpPr>
        <p:spPr>
          <a:xfrm>
            <a:off x="1192887" y="1825228"/>
            <a:ext cx="3008114"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Dataset Selection &amp; Preparation</a:t>
            </a:r>
            <a:endParaRPr lang="en-US" sz="1600" dirty="0"/>
          </a:p>
        </p:txBody>
      </p:sp>
      <p:sp>
        <p:nvSpPr>
          <p:cNvPr id="7" name="Text 5"/>
          <p:cNvSpPr/>
          <p:nvPr/>
        </p:nvSpPr>
        <p:spPr>
          <a:xfrm>
            <a:off x="1192887" y="2181106"/>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We curated a diverse suite of 7 tabular datasets, encompassing both classification and regression tasks, with varying sample sizes and feature dimensions. Each dataset underwent meticulous preprocessing to ensure consistency and eliminate biases before model application.</a:t>
            </a:r>
            <a:endParaRPr lang="en-US" sz="1250" dirty="0"/>
          </a:p>
        </p:txBody>
      </p:sp>
      <p:sp>
        <p:nvSpPr>
          <p:cNvPr id="8" name="Shape 6"/>
          <p:cNvSpPr/>
          <p:nvPr/>
        </p:nvSpPr>
        <p:spPr>
          <a:xfrm>
            <a:off x="658178" y="3036689"/>
            <a:ext cx="370165" cy="370165"/>
          </a:xfrm>
          <a:prstGeom prst="roundRect">
            <a:avLst>
              <a:gd name="adj" fmla="val 6668"/>
            </a:avLst>
          </a:prstGeom>
          <a:solidFill>
            <a:srgbClr val="484B51"/>
          </a:solidFill>
          <a:ln/>
        </p:spPr>
        <p:txBody>
          <a:bodyPr/>
          <a:lstStyle/>
          <a:p>
            <a:endParaRPr lang="en-IN"/>
          </a:p>
        </p:txBody>
      </p:sp>
      <p:sp>
        <p:nvSpPr>
          <p:cNvPr id="9" name="Text 7"/>
          <p:cNvSpPr/>
          <p:nvPr/>
        </p:nvSpPr>
        <p:spPr>
          <a:xfrm>
            <a:off x="719792" y="3067467"/>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2</a:t>
            </a:r>
            <a:endParaRPr lang="en-US" sz="1900" dirty="0"/>
          </a:p>
        </p:txBody>
      </p:sp>
      <p:sp>
        <p:nvSpPr>
          <p:cNvPr id="10" name="Text 8"/>
          <p:cNvSpPr/>
          <p:nvPr/>
        </p:nvSpPr>
        <p:spPr>
          <a:xfrm>
            <a:off x="1192887" y="3093244"/>
            <a:ext cx="2056805"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Model Benchmarking</a:t>
            </a:r>
            <a:endParaRPr lang="en-US" sz="1600" dirty="0"/>
          </a:p>
        </p:txBody>
      </p:sp>
      <p:sp>
        <p:nvSpPr>
          <p:cNvPr id="11" name="Text 9"/>
          <p:cNvSpPr/>
          <p:nvPr/>
        </p:nvSpPr>
        <p:spPr>
          <a:xfrm>
            <a:off x="1192887" y="3449122"/>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TabPFN was benchmarked against a selection of highly competitive state-of-the-art tabular models: AutoGluon, CatBoost, LightGBM, and XGBoost. This comprehensive comparison aimed to provide a holistic view of TabPFN's performance relative to established industry standards.</a:t>
            </a:r>
            <a:endParaRPr lang="en-US" sz="1250" dirty="0"/>
          </a:p>
        </p:txBody>
      </p:sp>
      <p:sp>
        <p:nvSpPr>
          <p:cNvPr id="12" name="Shape 10"/>
          <p:cNvSpPr/>
          <p:nvPr/>
        </p:nvSpPr>
        <p:spPr>
          <a:xfrm>
            <a:off x="658178" y="4304705"/>
            <a:ext cx="370165" cy="370165"/>
          </a:xfrm>
          <a:prstGeom prst="roundRect">
            <a:avLst>
              <a:gd name="adj" fmla="val 6668"/>
            </a:avLst>
          </a:prstGeom>
          <a:solidFill>
            <a:srgbClr val="484B51"/>
          </a:solidFill>
          <a:ln/>
        </p:spPr>
        <p:txBody>
          <a:bodyPr/>
          <a:lstStyle/>
          <a:p>
            <a:endParaRPr lang="en-IN"/>
          </a:p>
        </p:txBody>
      </p:sp>
      <p:sp>
        <p:nvSpPr>
          <p:cNvPr id="13" name="Text 11"/>
          <p:cNvSpPr/>
          <p:nvPr/>
        </p:nvSpPr>
        <p:spPr>
          <a:xfrm>
            <a:off x="719792" y="4335482"/>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3</a:t>
            </a:r>
            <a:endParaRPr lang="en-US" sz="1900" dirty="0"/>
          </a:p>
        </p:txBody>
      </p:sp>
      <p:sp>
        <p:nvSpPr>
          <p:cNvPr id="14" name="Text 12"/>
          <p:cNvSpPr/>
          <p:nvPr/>
        </p:nvSpPr>
        <p:spPr>
          <a:xfrm>
            <a:off x="1192887" y="4361259"/>
            <a:ext cx="2400300"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Rigorous Train-Test Splits</a:t>
            </a:r>
            <a:endParaRPr lang="en-US" sz="1600" dirty="0"/>
          </a:p>
        </p:txBody>
      </p:sp>
      <p:sp>
        <p:nvSpPr>
          <p:cNvPr id="15" name="Text 13"/>
          <p:cNvSpPr/>
          <p:nvPr/>
        </p:nvSpPr>
        <p:spPr>
          <a:xfrm>
            <a:off x="1192887" y="4717137"/>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For each dataset, we employed a consistent train-test splitting strategy, typically 80% for training and 20% for testing, to ensure fair and reproducible evaluation. Multiple random seeds were used to mitigate variance and enhance the reliability of our performance metrics.</a:t>
            </a:r>
            <a:endParaRPr lang="en-US" sz="1250" dirty="0"/>
          </a:p>
        </p:txBody>
      </p:sp>
      <p:sp>
        <p:nvSpPr>
          <p:cNvPr id="16" name="Shape 14"/>
          <p:cNvSpPr/>
          <p:nvPr/>
        </p:nvSpPr>
        <p:spPr>
          <a:xfrm>
            <a:off x="658178" y="5572720"/>
            <a:ext cx="370165" cy="370165"/>
          </a:xfrm>
          <a:prstGeom prst="roundRect">
            <a:avLst>
              <a:gd name="adj" fmla="val 6668"/>
            </a:avLst>
          </a:prstGeom>
          <a:solidFill>
            <a:srgbClr val="484B51"/>
          </a:solidFill>
          <a:ln/>
        </p:spPr>
        <p:txBody>
          <a:bodyPr/>
          <a:lstStyle/>
          <a:p>
            <a:endParaRPr lang="en-IN"/>
          </a:p>
        </p:txBody>
      </p:sp>
      <p:sp>
        <p:nvSpPr>
          <p:cNvPr id="17" name="Text 15"/>
          <p:cNvSpPr/>
          <p:nvPr/>
        </p:nvSpPr>
        <p:spPr>
          <a:xfrm>
            <a:off x="719792" y="5603498"/>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4</a:t>
            </a:r>
            <a:endParaRPr lang="en-US" sz="1900" dirty="0"/>
          </a:p>
        </p:txBody>
      </p:sp>
      <p:sp>
        <p:nvSpPr>
          <p:cNvPr id="18" name="Text 16"/>
          <p:cNvSpPr/>
          <p:nvPr/>
        </p:nvSpPr>
        <p:spPr>
          <a:xfrm>
            <a:off x="1192887" y="5629275"/>
            <a:ext cx="2725579"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Metric Definition &amp; Reporting</a:t>
            </a:r>
            <a:endParaRPr lang="en-US" sz="1600" dirty="0"/>
          </a:p>
        </p:txBody>
      </p:sp>
      <p:sp>
        <p:nvSpPr>
          <p:cNvPr id="19" name="Text 17"/>
          <p:cNvSpPr/>
          <p:nvPr/>
        </p:nvSpPr>
        <p:spPr>
          <a:xfrm>
            <a:off x="1192887" y="5985153"/>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We selected appropriate evaluation metrics based on the task type (e.g., Accuracy, F1-score for classification; RMSE, MAE for regression). All results were meticulously documented and presented using clear bullets and well-labeled figures to facilitate comprehensive understanding.</a:t>
            </a:r>
            <a:endParaRPr lang="en-US" sz="1250" dirty="0"/>
          </a:p>
        </p:txBody>
      </p:sp>
      <p:sp>
        <p:nvSpPr>
          <p:cNvPr id="20" name="Shape 18"/>
          <p:cNvSpPr/>
          <p:nvPr/>
        </p:nvSpPr>
        <p:spPr>
          <a:xfrm>
            <a:off x="658178" y="6840736"/>
            <a:ext cx="370165" cy="370165"/>
          </a:xfrm>
          <a:prstGeom prst="roundRect">
            <a:avLst>
              <a:gd name="adj" fmla="val 6668"/>
            </a:avLst>
          </a:prstGeom>
          <a:solidFill>
            <a:srgbClr val="484B51"/>
          </a:solidFill>
          <a:ln/>
        </p:spPr>
        <p:txBody>
          <a:bodyPr/>
          <a:lstStyle/>
          <a:p>
            <a:endParaRPr lang="en-IN"/>
          </a:p>
        </p:txBody>
      </p:sp>
      <p:sp>
        <p:nvSpPr>
          <p:cNvPr id="21" name="Text 19"/>
          <p:cNvSpPr/>
          <p:nvPr/>
        </p:nvSpPr>
        <p:spPr>
          <a:xfrm>
            <a:off x="719792" y="6871514"/>
            <a:ext cx="246817" cy="308491"/>
          </a:xfrm>
          <a:prstGeom prst="rect">
            <a:avLst/>
          </a:prstGeom>
          <a:noFill/>
          <a:ln/>
        </p:spPr>
        <p:txBody>
          <a:bodyPr wrap="none" lIns="0" tIns="0" rIns="0" bIns="0" rtlCol="0" anchor="t"/>
          <a:lstStyle/>
          <a:p>
            <a:pPr marL="0" indent="0" algn="ctr">
              <a:lnSpc>
                <a:spcPts val="1900"/>
              </a:lnSpc>
              <a:buNone/>
            </a:pPr>
            <a:r>
              <a:rPr lang="en-US" sz="1900" dirty="0">
                <a:solidFill>
                  <a:srgbClr val="D4D4D1"/>
                </a:solidFill>
                <a:latin typeface="IBM Plex Sans Medium" pitchFamily="34" charset="0"/>
                <a:ea typeface="IBM Plex Sans Medium" pitchFamily="34" charset="-122"/>
                <a:cs typeface="IBM Plex Sans Medium" pitchFamily="34" charset="-120"/>
              </a:rPr>
              <a:t>5</a:t>
            </a:r>
            <a:endParaRPr lang="en-US" sz="1900" dirty="0"/>
          </a:p>
        </p:txBody>
      </p:sp>
      <p:sp>
        <p:nvSpPr>
          <p:cNvPr id="22" name="Text 20"/>
          <p:cNvSpPr/>
          <p:nvPr/>
        </p:nvSpPr>
        <p:spPr>
          <a:xfrm>
            <a:off x="1192887" y="6897291"/>
            <a:ext cx="3363039" cy="257175"/>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Code &amp; Observation Documentation</a:t>
            </a:r>
            <a:endParaRPr lang="en-US" sz="1600" dirty="0"/>
          </a:p>
        </p:txBody>
      </p:sp>
      <p:sp>
        <p:nvSpPr>
          <p:cNvPr id="23" name="Text 21"/>
          <p:cNvSpPr/>
          <p:nvPr/>
        </p:nvSpPr>
        <p:spPr>
          <a:xfrm>
            <a:off x="1192887" y="7253168"/>
            <a:ext cx="12779335" cy="526494"/>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Throughout the analysis, all code, configurations, and observations—including any mismatches between our findings and the original TabPFN paper's claims—were rigorously documented. This commitment to transparency ensures reproducibility and provides valuable insights for future research.</a:t>
            </a:r>
            <a:endParaRPr lang="en-US" sz="1250" dirty="0"/>
          </a:p>
        </p:txBody>
      </p:sp>
      <p:sp>
        <p:nvSpPr>
          <p:cNvPr id="24" name="Rectangle 23">
            <a:extLst>
              <a:ext uri="{FF2B5EF4-FFF2-40B4-BE49-F238E27FC236}">
                <a16:creationId xmlns:a16="http://schemas.microsoft.com/office/drawing/2014/main" id="{03216487-6491-606A-4F7A-A8201F7120C1}"/>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892" y="582930"/>
            <a:ext cx="4118134" cy="514707"/>
          </a:xfrm>
          <a:prstGeom prst="rect">
            <a:avLst/>
          </a:prstGeom>
          <a:noFill/>
          <a:ln/>
        </p:spPr>
        <p:txBody>
          <a:bodyPr wrap="none" lIns="0" tIns="0" rIns="0" bIns="0" rtlCol="0" anchor="t"/>
          <a:lstStyle/>
          <a:p>
            <a:pPr marL="0" indent="0" algn="l">
              <a:lnSpc>
                <a:spcPts val="4050"/>
              </a:lnSpc>
              <a:buNone/>
            </a:pPr>
            <a:r>
              <a:rPr lang="en-US" sz="3200" dirty="0">
                <a:solidFill>
                  <a:srgbClr val="F3F3F2"/>
                </a:solidFill>
                <a:latin typeface="IBM Plex Sans Medium" pitchFamily="34" charset="0"/>
                <a:ea typeface="IBM Plex Sans Medium" pitchFamily="34" charset="-122"/>
                <a:cs typeface="IBM Plex Sans Medium" pitchFamily="34" charset="-120"/>
              </a:rPr>
              <a:t>Dataset Organization</a:t>
            </a:r>
            <a:endParaRPr lang="en-US" sz="3200" dirty="0"/>
          </a:p>
        </p:txBody>
      </p:sp>
      <p:sp>
        <p:nvSpPr>
          <p:cNvPr id="3" name="Text 1"/>
          <p:cNvSpPr/>
          <p:nvPr/>
        </p:nvSpPr>
        <p:spPr>
          <a:xfrm>
            <a:off x="658892" y="1344692"/>
            <a:ext cx="5371148" cy="308729"/>
          </a:xfrm>
          <a:prstGeom prst="rect">
            <a:avLst/>
          </a:prstGeom>
          <a:noFill/>
          <a:ln/>
        </p:spPr>
        <p:txBody>
          <a:bodyPr wrap="none" lIns="0" tIns="0" rIns="0" bIns="0" rtlCol="0" anchor="t"/>
          <a:lstStyle/>
          <a:p>
            <a:pPr marL="0" indent="0" algn="l">
              <a:lnSpc>
                <a:spcPts val="2400"/>
              </a:lnSpc>
              <a:buNone/>
            </a:pPr>
            <a:r>
              <a:rPr lang="en-US" sz="1900" dirty="0">
                <a:solidFill>
                  <a:srgbClr val="F3F3F2"/>
                </a:solidFill>
                <a:latin typeface="IBM Plex Sans Medium" pitchFamily="34" charset="0"/>
                <a:ea typeface="IBM Plex Sans Medium" pitchFamily="34" charset="-122"/>
                <a:cs typeface="IBM Plex Sans Medium" pitchFamily="34" charset="-120"/>
              </a:rPr>
              <a:t>Detailed overview of datasets used for analysis.</a:t>
            </a:r>
            <a:endParaRPr lang="en-US" sz="1900" dirty="0"/>
          </a:p>
        </p:txBody>
      </p:sp>
      <p:sp>
        <p:nvSpPr>
          <p:cNvPr id="4" name="Shape 2"/>
          <p:cNvSpPr/>
          <p:nvPr/>
        </p:nvSpPr>
        <p:spPr>
          <a:xfrm>
            <a:off x="658892" y="1900476"/>
            <a:ext cx="13312616" cy="5033724"/>
          </a:xfrm>
          <a:prstGeom prst="roundRect">
            <a:avLst>
              <a:gd name="adj" fmla="val 491"/>
            </a:avLst>
          </a:prstGeom>
          <a:noFill/>
          <a:ln w="7620">
            <a:solidFill>
              <a:srgbClr val="FFFFFF">
                <a:alpha val="24000"/>
              </a:srgbClr>
            </a:solidFill>
            <a:prstDash val="solid"/>
          </a:ln>
        </p:spPr>
        <p:txBody>
          <a:bodyPr/>
          <a:lstStyle/>
          <a:p>
            <a:endParaRPr lang="en-IN"/>
          </a:p>
        </p:txBody>
      </p:sp>
      <p:sp>
        <p:nvSpPr>
          <p:cNvPr id="5" name="Shape 3"/>
          <p:cNvSpPr/>
          <p:nvPr/>
        </p:nvSpPr>
        <p:spPr>
          <a:xfrm>
            <a:off x="666512" y="1908096"/>
            <a:ext cx="13297376" cy="996075"/>
          </a:xfrm>
          <a:prstGeom prst="rect">
            <a:avLst/>
          </a:prstGeom>
          <a:solidFill>
            <a:srgbClr val="FFFFFF">
              <a:alpha val="4000"/>
            </a:srgbClr>
          </a:solidFill>
          <a:ln/>
        </p:spPr>
        <p:txBody>
          <a:bodyPr/>
          <a:lstStyle/>
          <a:p>
            <a:endParaRPr lang="en-IN"/>
          </a:p>
        </p:txBody>
      </p:sp>
      <p:sp>
        <p:nvSpPr>
          <p:cNvPr id="6" name="Text 4"/>
          <p:cNvSpPr/>
          <p:nvPr/>
        </p:nvSpPr>
        <p:spPr>
          <a:xfrm>
            <a:off x="831413" y="2014538"/>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Heart Disease</a:t>
            </a:r>
            <a:endParaRPr lang="en-US" sz="1250" dirty="0"/>
          </a:p>
        </p:txBody>
      </p:sp>
      <p:sp>
        <p:nvSpPr>
          <p:cNvPr id="7" name="Text 5"/>
          <p:cNvSpPr/>
          <p:nvPr/>
        </p:nvSpPr>
        <p:spPr>
          <a:xfrm>
            <a:off x="3494603" y="201453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303</a:t>
            </a:r>
            <a:endParaRPr lang="en-US" sz="1250" dirty="0"/>
          </a:p>
        </p:txBody>
      </p:sp>
      <p:sp>
        <p:nvSpPr>
          <p:cNvPr id="8" name="Text 6"/>
          <p:cNvSpPr/>
          <p:nvPr/>
        </p:nvSpPr>
        <p:spPr>
          <a:xfrm>
            <a:off x="5489138" y="201453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9" name="Text 7"/>
          <p:cNvSpPr/>
          <p:nvPr/>
        </p:nvSpPr>
        <p:spPr>
          <a:xfrm>
            <a:off x="7483673" y="2014538"/>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presence of heart disease (binary classification) based on clinical data. Train: 242 (80%), Test: 61 (20%). Chosen for its relatively small size and clear classification objective.</a:t>
            </a:r>
            <a:endParaRPr lang="en-US" sz="1250" dirty="0"/>
          </a:p>
        </p:txBody>
      </p:sp>
      <p:sp>
        <p:nvSpPr>
          <p:cNvPr id="10" name="Shape 8"/>
          <p:cNvSpPr/>
          <p:nvPr/>
        </p:nvSpPr>
        <p:spPr>
          <a:xfrm>
            <a:off x="666512" y="2911792"/>
            <a:ext cx="13297376" cy="1003697"/>
          </a:xfrm>
          <a:prstGeom prst="rect">
            <a:avLst/>
          </a:prstGeom>
          <a:solidFill>
            <a:srgbClr val="000000">
              <a:alpha val="4000"/>
            </a:srgbClr>
          </a:solidFill>
          <a:ln/>
        </p:spPr>
        <p:txBody>
          <a:bodyPr/>
          <a:lstStyle/>
          <a:p>
            <a:endParaRPr lang="en-IN"/>
          </a:p>
        </p:txBody>
      </p:sp>
      <p:sp>
        <p:nvSpPr>
          <p:cNvPr id="11" name="Text 9"/>
          <p:cNvSpPr/>
          <p:nvPr/>
        </p:nvSpPr>
        <p:spPr>
          <a:xfrm>
            <a:off x="831413" y="3018234"/>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Adult Census</a:t>
            </a:r>
            <a:endParaRPr lang="en-US" sz="1250" dirty="0"/>
          </a:p>
        </p:txBody>
      </p:sp>
      <p:sp>
        <p:nvSpPr>
          <p:cNvPr id="12" name="Text 10"/>
          <p:cNvSpPr/>
          <p:nvPr/>
        </p:nvSpPr>
        <p:spPr>
          <a:xfrm>
            <a:off x="3494603" y="3018234"/>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48,842</a:t>
            </a:r>
            <a:endParaRPr lang="en-US" sz="1250" dirty="0"/>
          </a:p>
        </p:txBody>
      </p:sp>
      <p:sp>
        <p:nvSpPr>
          <p:cNvPr id="13" name="Text 11"/>
          <p:cNvSpPr/>
          <p:nvPr/>
        </p:nvSpPr>
        <p:spPr>
          <a:xfrm>
            <a:off x="5489138" y="3018234"/>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14" name="Text 12"/>
          <p:cNvSpPr/>
          <p:nvPr/>
        </p:nvSpPr>
        <p:spPr>
          <a:xfrm>
            <a:off x="7483673" y="3018234"/>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if income exceeds $50K/year (binary classification) from census data. Train: 39,073 (80%), Test: 9,769 (20%). Included for its larger scale and mix of categorical and numerical features.</a:t>
            </a:r>
            <a:endParaRPr lang="en-US" sz="1250" dirty="0"/>
          </a:p>
        </p:txBody>
      </p:sp>
      <p:sp>
        <p:nvSpPr>
          <p:cNvPr id="15" name="Shape 13"/>
          <p:cNvSpPr/>
          <p:nvPr/>
        </p:nvSpPr>
        <p:spPr>
          <a:xfrm>
            <a:off x="666512" y="3915489"/>
            <a:ext cx="13297376" cy="1003697"/>
          </a:xfrm>
          <a:prstGeom prst="rect">
            <a:avLst/>
          </a:prstGeom>
          <a:solidFill>
            <a:srgbClr val="FFFFFF">
              <a:alpha val="4000"/>
            </a:srgbClr>
          </a:solidFill>
          <a:ln/>
        </p:spPr>
        <p:txBody>
          <a:bodyPr/>
          <a:lstStyle/>
          <a:p>
            <a:endParaRPr lang="en-IN"/>
          </a:p>
        </p:txBody>
      </p:sp>
      <p:sp>
        <p:nvSpPr>
          <p:cNvPr id="16" name="Text 14"/>
          <p:cNvSpPr/>
          <p:nvPr/>
        </p:nvSpPr>
        <p:spPr>
          <a:xfrm>
            <a:off x="831413" y="4021931"/>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California Housing</a:t>
            </a:r>
            <a:endParaRPr lang="en-US" sz="1250" dirty="0"/>
          </a:p>
        </p:txBody>
      </p:sp>
      <p:sp>
        <p:nvSpPr>
          <p:cNvPr id="17" name="Text 15"/>
          <p:cNvSpPr/>
          <p:nvPr/>
        </p:nvSpPr>
        <p:spPr>
          <a:xfrm>
            <a:off x="3494603" y="4021931"/>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20,640</a:t>
            </a:r>
            <a:endParaRPr lang="en-US" sz="1250" dirty="0"/>
          </a:p>
        </p:txBody>
      </p:sp>
      <p:sp>
        <p:nvSpPr>
          <p:cNvPr id="18" name="Text 16"/>
          <p:cNvSpPr/>
          <p:nvPr/>
        </p:nvSpPr>
        <p:spPr>
          <a:xfrm>
            <a:off x="5489138" y="4021931"/>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Regression</a:t>
            </a:r>
            <a:endParaRPr lang="en-US" sz="1250" dirty="0"/>
          </a:p>
        </p:txBody>
      </p:sp>
      <p:sp>
        <p:nvSpPr>
          <p:cNvPr id="19" name="Text 17"/>
          <p:cNvSpPr/>
          <p:nvPr/>
        </p:nvSpPr>
        <p:spPr>
          <a:xfrm>
            <a:off x="7483673" y="4021931"/>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median house value (regression) in California districts. Train: 16,512 (80%), Test: 4,128 (20%). A standard regression benchmark to test continuous prediction capabilities.</a:t>
            </a:r>
            <a:endParaRPr lang="en-US" sz="1250" dirty="0"/>
          </a:p>
        </p:txBody>
      </p:sp>
      <p:sp>
        <p:nvSpPr>
          <p:cNvPr id="20" name="Shape 18"/>
          <p:cNvSpPr/>
          <p:nvPr/>
        </p:nvSpPr>
        <p:spPr>
          <a:xfrm>
            <a:off x="666512" y="4919186"/>
            <a:ext cx="13297376" cy="1003697"/>
          </a:xfrm>
          <a:prstGeom prst="rect">
            <a:avLst/>
          </a:prstGeom>
          <a:solidFill>
            <a:srgbClr val="000000">
              <a:alpha val="4000"/>
            </a:srgbClr>
          </a:solidFill>
          <a:ln/>
        </p:spPr>
        <p:txBody>
          <a:bodyPr/>
          <a:lstStyle/>
          <a:p>
            <a:endParaRPr lang="en-IN"/>
          </a:p>
        </p:txBody>
      </p:sp>
      <p:sp>
        <p:nvSpPr>
          <p:cNvPr id="21" name="Text 19"/>
          <p:cNvSpPr/>
          <p:nvPr/>
        </p:nvSpPr>
        <p:spPr>
          <a:xfrm>
            <a:off x="831413" y="5025628"/>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Credit Card Fraud</a:t>
            </a:r>
            <a:endParaRPr lang="en-US" sz="1250" dirty="0"/>
          </a:p>
        </p:txBody>
      </p:sp>
      <p:sp>
        <p:nvSpPr>
          <p:cNvPr id="22" name="Text 20"/>
          <p:cNvSpPr/>
          <p:nvPr/>
        </p:nvSpPr>
        <p:spPr>
          <a:xfrm>
            <a:off x="3494603" y="502562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284,807</a:t>
            </a:r>
            <a:endParaRPr lang="en-US" sz="1250" dirty="0"/>
          </a:p>
        </p:txBody>
      </p:sp>
      <p:sp>
        <p:nvSpPr>
          <p:cNvPr id="23" name="Text 21"/>
          <p:cNvSpPr/>
          <p:nvPr/>
        </p:nvSpPr>
        <p:spPr>
          <a:xfrm>
            <a:off x="5489138" y="5025628"/>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24" name="Text 22"/>
          <p:cNvSpPr/>
          <p:nvPr/>
        </p:nvSpPr>
        <p:spPr>
          <a:xfrm>
            <a:off x="7483673" y="5025628"/>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Detects fraudulent credit card transactions (binary classification, highly imbalanced). Train: 227,845 (80%), Test: 56,962 (20%). Crucial for testing performance on imbalanced datasets.</a:t>
            </a:r>
            <a:endParaRPr lang="en-US" sz="1250" dirty="0"/>
          </a:p>
        </p:txBody>
      </p:sp>
      <p:sp>
        <p:nvSpPr>
          <p:cNvPr id="25" name="Shape 23"/>
          <p:cNvSpPr/>
          <p:nvPr/>
        </p:nvSpPr>
        <p:spPr>
          <a:xfrm>
            <a:off x="666512" y="5922883"/>
            <a:ext cx="13297376" cy="1003697"/>
          </a:xfrm>
          <a:prstGeom prst="rect">
            <a:avLst/>
          </a:prstGeom>
          <a:solidFill>
            <a:srgbClr val="FFFFFF">
              <a:alpha val="4000"/>
            </a:srgbClr>
          </a:solidFill>
          <a:ln/>
        </p:spPr>
        <p:txBody>
          <a:bodyPr/>
          <a:lstStyle/>
          <a:p>
            <a:endParaRPr lang="en-IN"/>
          </a:p>
        </p:txBody>
      </p:sp>
      <p:sp>
        <p:nvSpPr>
          <p:cNvPr id="26" name="Text 24"/>
          <p:cNvSpPr/>
          <p:nvPr/>
        </p:nvSpPr>
        <p:spPr>
          <a:xfrm>
            <a:off x="831413" y="6029325"/>
            <a:ext cx="2326243"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Diabetes</a:t>
            </a:r>
            <a:endParaRPr lang="en-US" sz="1250" dirty="0"/>
          </a:p>
        </p:txBody>
      </p:sp>
      <p:sp>
        <p:nvSpPr>
          <p:cNvPr id="27" name="Text 25"/>
          <p:cNvSpPr/>
          <p:nvPr/>
        </p:nvSpPr>
        <p:spPr>
          <a:xfrm>
            <a:off x="3494603" y="6029325"/>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768</a:t>
            </a:r>
            <a:endParaRPr lang="en-US" sz="1250" dirty="0"/>
          </a:p>
        </p:txBody>
      </p:sp>
      <p:sp>
        <p:nvSpPr>
          <p:cNvPr id="28" name="Text 26"/>
          <p:cNvSpPr/>
          <p:nvPr/>
        </p:nvSpPr>
        <p:spPr>
          <a:xfrm>
            <a:off x="5489138" y="6029325"/>
            <a:ext cx="1657588" cy="263604"/>
          </a:xfrm>
          <a:prstGeom prst="rect">
            <a:avLst/>
          </a:prstGeom>
          <a:noFill/>
          <a:ln/>
        </p:spPr>
        <p:txBody>
          <a:bodyPr wrap="non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2</a:t>
            </a:r>
            <a:endParaRPr lang="en-US" sz="1250" dirty="0"/>
          </a:p>
        </p:txBody>
      </p:sp>
      <p:sp>
        <p:nvSpPr>
          <p:cNvPr id="29" name="Text 27"/>
          <p:cNvSpPr/>
          <p:nvPr/>
        </p:nvSpPr>
        <p:spPr>
          <a:xfrm>
            <a:off x="7483673" y="6029325"/>
            <a:ext cx="6315551" cy="790813"/>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Predicts onset of diabetes based on diagnostic measurements (binary classification). Train: 614 (80%), Test: 154 (20%). A classic medical dataset, important for model generalizability.</a:t>
            </a:r>
            <a:endParaRPr lang="en-US" sz="1250" dirty="0"/>
          </a:p>
        </p:txBody>
      </p:sp>
      <p:sp>
        <p:nvSpPr>
          <p:cNvPr id="30" name="Text 28"/>
          <p:cNvSpPr/>
          <p:nvPr/>
        </p:nvSpPr>
        <p:spPr>
          <a:xfrm>
            <a:off x="658892" y="7119461"/>
            <a:ext cx="13312616" cy="527209"/>
          </a:xfrm>
          <a:prstGeom prst="rect">
            <a:avLst/>
          </a:prstGeom>
          <a:noFill/>
          <a:ln/>
        </p:spPr>
        <p:txBody>
          <a:bodyPr wrap="square" lIns="0" tIns="0" rIns="0" bIns="0" rtlCol="0" anchor="t"/>
          <a:lstStyle/>
          <a:p>
            <a:pPr marL="0" indent="0" algn="l">
              <a:lnSpc>
                <a:spcPts val="2050"/>
              </a:lnSpc>
              <a:buNone/>
            </a:pPr>
            <a:r>
              <a:rPr lang="en-US" sz="1250" dirty="0">
                <a:solidFill>
                  <a:srgbClr val="D4D4D1"/>
                </a:solidFill>
                <a:latin typeface="Roboto" pitchFamily="34" charset="0"/>
                <a:ea typeface="Roboto" pitchFamily="34" charset="-122"/>
                <a:cs typeface="Roboto" pitchFamily="34" charset="-120"/>
              </a:rPr>
              <a:t>The selected datasets represent a balanced mix of classification and regression tasks, varying in size and complexity, ensuring a robust evaluation of TabPFN's capabilities across diverse real-world scenarios. Each dataset underwent meticulous train-test splitting (80/20) to guarantee consistent and fair evaluation across all benchmarked models.</a:t>
            </a:r>
            <a:endParaRPr lang="en-US" sz="1250" dirty="0"/>
          </a:p>
        </p:txBody>
      </p:sp>
      <p:sp>
        <p:nvSpPr>
          <p:cNvPr id="31" name="Rectangle 30">
            <a:extLst>
              <a:ext uri="{FF2B5EF4-FFF2-40B4-BE49-F238E27FC236}">
                <a16:creationId xmlns:a16="http://schemas.microsoft.com/office/drawing/2014/main" id="{334B3759-2ABD-7665-141C-6AA2D8BC6711}"/>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05646" y="278844"/>
            <a:ext cx="5869424" cy="316944"/>
          </a:xfrm>
          <a:prstGeom prst="rect">
            <a:avLst/>
          </a:prstGeom>
          <a:noFill/>
          <a:ln/>
        </p:spPr>
        <p:txBody>
          <a:bodyPr wrap="none" lIns="0" tIns="0" rIns="0" bIns="0" rtlCol="0" anchor="t"/>
          <a:lstStyle/>
          <a:p>
            <a:pPr marL="0" indent="0" algn="l">
              <a:lnSpc>
                <a:spcPts val="2450"/>
              </a:lnSpc>
              <a:buNone/>
            </a:pPr>
            <a:r>
              <a:rPr lang="en-US" sz="1950" dirty="0">
                <a:solidFill>
                  <a:srgbClr val="F3F3F2"/>
                </a:solidFill>
                <a:latin typeface="IBM Plex Sans Medium" pitchFamily="34" charset="0"/>
                <a:ea typeface="IBM Plex Sans Medium" pitchFamily="34" charset="-122"/>
                <a:cs typeface="IBM Plex Sans Medium" pitchFamily="34" charset="-120"/>
              </a:rPr>
              <a:t>Results &amp; Observations: Comparative Performance</a:t>
            </a:r>
            <a:endParaRPr lang="en-US" sz="1950" dirty="0"/>
          </a:p>
        </p:txBody>
      </p:sp>
      <p:sp>
        <p:nvSpPr>
          <p:cNvPr id="3" name="Text 1"/>
          <p:cNvSpPr/>
          <p:nvPr/>
        </p:nvSpPr>
        <p:spPr>
          <a:xfrm>
            <a:off x="405646" y="747832"/>
            <a:ext cx="4544854" cy="190143"/>
          </a:xfrm>
          <a:prstGeom prst="rect">
            <a:avLst/>
          </a:prstGeom>
          <a:noFill/>
          <a:ln/>
        </p:spPr>
        <p:txBody>
          <a:bodyPr wrap="none" lIns="0" tIns="0" rIns="0" bIns="0" rtlCol="0" anchor="t"/>
          <a:lstStyle/>
          <a:p>
            <a:pPr marL="0" indent="0" algn="l">
              <a:lnSpc>
                <a:spcPts val="1450"/>
              </a:lnSpc>
              <a:buNone/>
            </a:pPr>
            <a:r>
              <a:rPr lang="en-US" sz="1150" dirty="0">
                <a:solidFill>
                  <a:srgbClr val="F3F3F2"/>
                </a:solidFill>
                <a:latin typeface="IBM Plex Sans Medium" pitchFamily="34" charset="0"/>
                <a:ea typeface="IBM Plex Sans Medium" pitchFamily="34" charset="-122"/>
                <a:cs typeface="IBM Plex Sans Medium" pitchFamily="34" charset="-120"/>
              </a:rPr>
              <a:t>Share comparative results, main findings, and any notable issues.</a:t>
            </a:r>
            <a:endParaRPr lang="en-US" sz="1150" dirty="0"/>
          </a:p>
        </p:txBody>
      </p:sp>
      <p:sp>
        <p:nvSpPr>
          <p:cNvPr id="5" name="Shape 2"/>
          <p:cNvSpPr/>
          <p:nvPr/>
        </p:nvSpPr>
        <p:spPr>
          <a:xfrm>
            <a:off x="3947398" y="8524280"/>
            <a:ext cx="101322" cy="101322"/>
          </a:xfrm>
          <a:prstGeom prst="roundRect">
            <a:avLst>
              <a:gd name="adj" fmla="val 18049"/>
            </a:avLst>
          </a:prstGeom>
          <a:solidFill>
            <a:srgbClr val="C75000"/>
          </a:solidFill>
          <a:ln/>
        </p:spPr>
        <p:txBody>
          <a:bodyPr/>
          <a:lstStyle/>
          <a:p>
            <a:endParaRPr lang="en-IN"/>
          </a:p>
        </p:txBody>
      </p:sp>
      <p:sp>
        <p:nvSpPr>
          <p:cNvPr id="6" name="Text 3"/>
          <p:cNvSpPr/>
          <p:nvPr/>
        </p:nvSpPr>
        <p:spPr>
          <a:xfrm>
            <a:off x="4109680" y="8524280"/>
            <a:ext cx="800695"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TabPFN Accuracy</a:t>
            </a:r>
            <a:endParaRPr lang="en-US" sz="750" dirty="0"/>
          </a:p>
        </p:txBody>
      </p:sp>
      <p:sp>
        <p:nvSpPr>
          <p:cNvPr id="7" name="Shape 4"/>
          <p:cNvSpPr/>
          <p:nvPr/>
        </p:nvSpPr>
        <p:spPr>
          <a:xfrm>
            <a:off x="6775847" y="8524280"/>
            <a:ext cx="101322" cy="101322"/>
          </a:xfrm>
          <a:prstGeom prst="roundRect">
            <a:avLst>
              <a:gd name="adj" fmla="val 18049"/>
            </a:avLst>
          </a:prstGeom>
          <a:solidFill>
            <a:srgbClr val="FF7E27"/>
          </a:solidFill>
          <a:ln/>
        </p:spPr>
        <p:txBody>
          <a:bodyPr/>
          <a:lstStyle/>
          <a:p>
            <a:endParaRPr lang="en-IN"/>
          </a:p>
        </p:txBody>
      </p:sp>
      <p:sp>
        <p:nvSpPr>
          <p:cNvPr id="8" name="Text 5"/>
          <p:cNvSpPr/>
          <p:nvPr/>
        </p:nvSpPr>
        <p:spPr>
          <a:xfrm>
            <a:off x="6938129" y="8524280"/>
            <a:ext cx="916305"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AutoGluon Accuracy</a:t>
            </a:r>
            <a:endParaRPr lang="en-US" sz="750" dirty="0"/>
          </a:p>
        </p:txBody>
      </p:sp>
      <p:sp>
        <p:nvSpPr>
          <p:cNvPr id="9" name="Shape 6"/>
          <p:cNvSpPr/>
          <p:nvPr/>
        </p:nvSpPr>
        <p:spPr>
          <a:xfrm>
            <a:off x="9719905" y="8524280"/>
            <a:ext cx="101322" cy="101322"/>
          </a:xfrm>
          <a:prstGeom prst="roundRect">
            <a:avLst>
              <a:gd name="adj" fmla="val 18049"/>
            </a:avLst>
          </a:prstGeom>
          <a:solidFill>
            <a:srgbClr val="FFB786"/>
          </a:solidFill>
          <a:ln/>
        </p:spPr>
        <p:txBody>
          <a:bodyPr/>
          <a:lstStyle/>
          <a:p>
            <a:endParaRPr lang="en-IN"/>
          </a:p>
        </p:txBody>
      </p:sp>
      <p:sp>
        <p:nvSpPr>
          <p:cNvPr id="10" name="Text 7"/>
          <p:cNvSpPr/>
          <p:nvPr/>
        </p:nvSpPr>
        <p:spPr>
          <a:xfrm>
            <a:off x="9882188" y="8524280"/>
            <a:ext cx="837128" cy="101441"/>
          </a:xfrm>
          <a:prstGeom prst="rect">
            <a:avLst/>
          </a:prstGeom>
          <a:noFill/>
          <a:ln/>
        </p:spPr>
        <p:txBody>
          <a:bodyPr wrap="none" lIns="0" tIns="0" rIns="0" bIns="0" rtlCol="0" anchor="t"/>
          <a:lstStyle/>
          <a:p>
            <a:pPr marL="0" indent="0" algn="l">
              <a:lnSpc>
                <a:spcPts val="750"/>
              </a:lnSpc>
              <a:buNone/>
            </a:pPr>
            <a:r>
              <a:rPr lang="en-US" sz="750" dirty="0">
                <a:solidFill>
                  <a:srgbClr val="D4D4D1"/>
                </a:solidFill>
                <a:latin typeface="Roboto" pitchFamily="34" charset="0"/>
                <a:ea typeface="Roboto" pitchFamily="34" charset="-122"/>
                <a:cs typeface="Roboto" pitchFamily="34" charset="-120"/>
              </a:rPr>
              <a:t>XGBoost Accuracy</a:t>
            </a:r>
            <a:endParaRPr lang="en-US" sz="750" dirty="0"/>
          </a:p>
        </p:txBody>
      </p:sp>
      <p:sp>
        <p:nvSpPr>
          <p:cNvPr id="11" name="Text 8"/>
          <p:cNvSpPr/>
          <p:nvPr/>
        </p:nvSpPr>
        <p:spPr>
          <a:xfrm>
            <a:off x="405646" y="8942665"/>
            <a:ext cx="13819108" cy="324564"/>
          </a:xfrm>
          <a:prstGeom prst="rect">
            <a:avLst/>
          </a:prstGeom>
          <a:noFill/>
          <a:ln/>
        </p:spPr>
        <p:txBody>
          <a:bodyPr wrap="square" lIns="0" tIns="0" rIns="0" bIns="0" rtlCol="0" anchor="t"/>
          <a:lstStyle/>
          <a:p>
            <a:pPr marL="0" indent="0" algn="l">
              <a:lnSpc>
                <a:spcPts val="1250"/>
              </a:lnSpc>
              <a:buNone/>
            </a:pPr>
            <a:r>
              <a:rPr lang="en-US" sz="750" dirty="0">
                <a:solidFill>
                  <a:srgbClr val="D4D4D1"/>
                </a:solidFill>
                <a:latin typeface="Roboto" pitchFamily="34" charset="0"/>
                <a:ea typeface="Roboto" pitchFamily="34" charset="-122"/>
                <a:cs typeface="Roboto" pitchFamily="34" charset="-120"/>
              </a:rPr>
              <a:t>Our comparative analysis revealed that while TabPFN delivered competitive results on smaller datasets like Heart Disease, its performance on larger and more complex datasets (e.g., Adult Census, Credit Card Fraud) generally lagged behind highly optimized gradient boosting models such as XGBoost and LightGBM, and also behind AutoGluon's ensemble capabilities.</a:t>
            </a:r>
            <a:endParaRPr lang="en-US" sz="750" dirty="0"/>
          </a:p>
        </p:txBody>
      </p:sp>
      <p:sp>
        <p:nvSpPr>
          <p:cNvPr id="12" name="Text 9"/>
          <p:cNvSpPr/>
          <p:nvPr/>
        </p:nvSpPr>
        <p:spPr>
          <a:xfrm>
            <a:off x="405646" y="9381292"/>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Strong on Small Datasets:</a:t>
            </a:r>
            <a:r>
              <a:rPr lang="en-US" sz="750" dirty="0">
                <a:solidFill>
                  <a:srgbClr val="D4D4D1"/>
                </a:solidFill>
                <a:latin typeface="Roboto" pitchFamily="34" charset="0"/>
                <a:ea typeface="Roboto" pitchFamily="34" charset="-122"/>
                <a:cs typeface="Roboto" pitchFamily="34" charset="-120"/>
              </a:rPr>
              <a:t> TabPFN exhibited its expected strength on datasets with fewer than 1000 samples, often achieving accuracy on par with or slightly better than individual GBDT models, validating its rapid inference capabilities for such scenarios.</a:t>
            </a:r>
            <a:endParaRPr lang="en-US" sz="750" dirty="0"/>
          </a:p>
        </p:txBody>
      </p:sp>
      <p:sp>
        <p:nvSpPr>
          <p:cNvPr id="13" name="Text 10"/>
          <p:cNvSpPr/>
          <p:nvPr/>
        </p:nvSpPr>
        <p:spPr>
          <a:xfrm>
            <a:off x="405646" y="9579054"/>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Scalability Limitations:</a:t>
            </a:r>
            <a:r>
              <a:rPr lang="en-US" sz="750" dirty="0">
                <a:solidFill>
                  <a:srgbClr val="D4D4D1"/>
                </a:solidFill>
                <a:latin typeface="Roboto" pitchFamily="34" charset="0"/>
                <a:ea typeface="Roboto" pitchFamily="34" charset="-122"/>
                <a:cs typeface="Roboto" pitchFamily="34" charset="-120"/>
              </a:rPr>
              <a:t> For datasets exceeding tens of thousands of samples, TabPFN's performance plateaued, and in some cases, it struggled with computational memory, indicating potential scalability issues not observed in the paper which focused on relatively smaller benchmarks.</a:t>
            </a:r>
            <a:endParaRPr lang="en-US" sz="750" dirty="0"/>
          </a:p>
        </p:txBody>
      </p:sp>
      <p:sp>
        <p:nvSpPr>
          <p:cNvPr id="14" name="Text 11"/>
          <p:cNvSpPr/>
          <p:nvPr/>
        </p:nvSpPr>
        <p:spPr>
          <a:xfrm>
            <a:off x="405646" y="9776817"/>
            <a:ext cx="13819108" cy="162282"/>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4D4D1"/>
                </a:solidFill>
                <a:latin typeface="Roboto" pitchFamily="34" charset="0"/>
                <a:ea typeface="Roboto" pitchFamily="34" charset="-122"/>
                <a:cs typeface="Roboto" pitchFamily="34" charset="-120"/>
              </a:rPr>
              <a:t>Outperformed by Ensembles:</a:t>
            </a:r>
            <a:r>
              <a:rPr lang="en-US" sz="750" dirty="0">
                <a:solidFill>
                  <a:srgbClr val="D4D4D1"/>
                </a:solidFill>
                <a:latin typeface="Roboto" pitchFamily="34" charset="0"/>
                <a:ea typeface="Roboto" pitchFamily="34" charset="-122"/>
                <a:cs typeface="Roboto" pitchFamily="34" charset="-120"/>
              </a:rPr>
              <a:t> AutoGluon, with its robust ensemble learning and automated feature engineering, consistently outperformed TabPFN, especially on datasets with mixed data types and complex interactions, highlighting the power of automated machine learning frameworks.</a:t>
            </a:r>
            <a:endParaRPr lang="en-US" sz="750" dirty="0"/>
          </a:p>
        </p:txBody>
      </p:sp>
      <p:sp>
        <p:nvSpPr>
          <p:cNvPr id="15" name="Rectangle 14">
            <a:extLst>
              <a:ext uri="{FF2B5EF4-FFF2-40B4-BE49-F238E27FC236}">
                <a16:creationId xmlns:a16="http://schemas.microsoft.com/office/drawing/2014/main" id="{528E8196-33B5-143E-D770-266F1DBA075F}"/>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B3A3E9DE-11F6-AC60-5549-760349BD4BB4}"/>
              </a:ext>
            </a:extLst>
          </p:cNvPr>
          <p:cNvPicPr>
            <a:picLocks noChangeAspect="1"/>
          </p:cNvPicPr>
          <p:nvPr/>
        </p:nvPicPr>
        <p:blipFill>
          <a:blip r:embed="rId3"/>
          <a:stretch>
            <a:fillRect/>
          </a:stretch>
        </p:blipFill>
        <p:spPr>
          <a:xfrm>
            <a:off x="840188" y="1272468"/>
            <a:ext cx="12950024" cy="64038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6626" y="430768"/>
            <a:ext cx="9687520" cy="489585"/>
          </a:xfrm>
          <a:prstGeom prst="rect">
            <a:avLst/>
          </a:prstGeom>
          <a:noFill/>
          <a:ln/>
        </p:spPr>
        <p:txBody>
          <a:bodyPr wrap="none" lIns="0" tIns="0" rIns="0" bIns="0" rtlCol="0" anchor="t"/>
          <a:lstStyle/>
          <a:p>
            <a:pPr marL="0" indent="0" algn="l">
              <a:lnSpc>
                <a:spcPts val="3850"/>
              </a:lnSpc>
              <a:buNone/>
            </a:pPr>
            <a:r>
              <a:rPr lang="en-US" sz="3050" dirty="0">
                <a:solidFill>
                  <a:srgbClr val="F3F3F2"/>
                </a:solidFill>
                <a:latin typeface="IBM Plex Sans Medium" pitchFamily="34" charset="0"/>
                <a:ea typeface="IBM Plex Sans Medium" pitchFamily="34" charset="-122"/>
                <a:cs typeface="IBM Plex Sans Medium" pitchFamily="34" charset="-120"/>
              </a:rPr>
              <a:t>Results &amp; Observations: Notable Issues &amp; Mismatches</a:t>
            </a:r>
            <a:endParaRPr lang="en-US" sz="3050" dirty="0"/>
          </a:p>
        </p:txBody>
      </p:sp>
      <p:sp>
        <p:nvSpPr>
          <p:cNvPr id="3" name="Text 1"/>
          <p:cNvSpPr/>
          <p:nvPr/>
        </p:nvSpPr>
        <p:spPr>
          <a:xfrm>
            <a:off x="626626" y="1155263"/>
            <a:ext cx="5471636" cy="293727"/>
          </a:xfrm>
          <a:prstGeom prst="rect">
            <a:avLst/>
          </a:prstGeom>
          <a:noFill/>
          <a:ln/>
        </p:spPr>
        <p:txBody>
          <a:bodyPr wrap="none" lIns="0" tIns="0" rIns="0" bIns="0" rtlCol="0" anchor="t"/>
          <a:lstStyle/>
          <a:p>
            <a:pPr marL="0" indent="0" algn="l">
              <a:lnSpc>
                <a:spcPts val="2300"/>
              </a:lnSpc>
              <a:buNone/>
            </a:pPr>
            <a:r>
              <a:rPr lang="en-US" sz="1850" dirty="0">
                <a:solidFill>
                  <a:srgbClr val="F3F3F2"/>
                </a:solidFill>
                <a:latin typeface="IBM Plex Sans Medium" pitchFamily="34" charset="0"/>
                <a:ea typeface="IBM Plex Sans Medium" pitchFamily="34" charset="-122"/>
                <a:cs typeface="IBM Plex Sans Medium" pitchFamily="34" charset="-120"/>
              </a:rPr>
              <a:t>Highlight discrepancies and unexpected behaviors.</a:t>
            </a:r>
            <a:endParaRPr lang="en-US" sz="1850" dirty="0"/>
          </a:p>
        </p:txBody>
      </p:sp>
      <p:sp>
        <p:nvSpPr>
          <p:cNvPr id="4" name="Text 2"/>
          <p:cNvSpPr/>
          <p:nvPr/>
        </p:nvSpPr>
        <p:spPr>
          <a:xfrm>
            <a:off x="626626" y="1824871"/>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Computational Resource Mismatch:</a:t>
            </a:r>
            <a:r>
              <a:rPr lang="en-US" sz="1200" dirty="0">
                <a:solidFill>
                  <a:srgbClr val="D4D4D1"/>
                </a:solidFill>
                <a:latin typeface="Roboto" pitchFamily="34" charset="0"/>
                <a:ea typeface="Roboto" pitchFamily="34" charset="-122"/>
                <a:cs typeface="Roboto" pitchFamily="34" charset="-120"/>
              </a:rPr>
              <a:t> The original paper implied a highly efficient inference for TabPFN. While inference is indeed fast, our observations indicate that the memory footprint can be substantial for datasets even moderately larger than those showcased in the paper. This limits its applicability in resource-constrained environments or for very large tabular datasets without significant downsampling.</a:t>
            </a:r>
            <a:endParaRPr lang="en-US" sz="1200" dirty="0"/>
          </a:p>
        </p:txBody>
      </p:sp>
      <p:sp>
        <p:nvSpPr>
          <p:cNvPr id="5" name="Text 3"/>
          <p:cNvSpPr/>
          <p:nvPr/>
        </p:nvSpPr>
        <p:spPr>
          <a:xfrm>
            <a:off x="626626" y="3132772"/>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Sensitivity to Preprocessing:</a:t>
            </a:r>
            <a:r>
              <a:rPr lang="en-US" sz="1200" dirty="0">
                <a:solidFill>
                  <a:srgbClr val="D4D4D1"/>
                </a:solidFill>
                <a:latin typeface="Roboto" pitchFamily="34" charset="0"/>
                <a:ea typeface="Roboto" pitchFamily="34" charset="-122"/>
                <a:cs typeface="Roboto" pitchFamily="34" charset="-120"/>
              </a:rPr>
              <a:t> We observed that TabPFN's performance was more sensitive to the exact preprocessing steps (e.g., specific scaling methods, handling of categorical features) than traditional tree-based models. This suggests that while it's "fitted," its generalization can be impacted by subtle variations in data preparation, which was not extensively discussed as a caveat in the original work.</a:t>
            </a:r>
            <a:endParaRPr lang="en-US" sz="1200" dirty="0"/>
          </a:p>
        </p:txBody>
      </p:sp>
      <p:sp>
        <p:nvSpPr>
          <p:cNvPr id="6" name="Text 4"/>
          <p:cNvSpPr/>
          <p:nvPr/>
        </p:nvSpPr>
        <p:spPr>
          <a:xfrm>
            <a:off x="626626" y="4440674"/>
            <a:ext cx="6497479" cy="1002506"/>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Limited Interpretability:</a:t>
            </a:r>
            <a:r>
              <a:rPr lang="en-US" sz="1200" dirty="0">
                <a:solidFill>
                  <a:srgbClr val="D4D4D1"/>
                </a:solidFill>
                <a:latin typeface="Roboto" pitchFamily="34" charset="0"/>
                <a:ea typeface="Roboto" pitchFamily="34" charset="-122"/>
                <a:cs typeface="Roboto" pitchFamily="34" charset="-120"/>
              </a:rPr>
              <a:t> Similar to other foundation models, TabPFN offers very limited interpretability. Unlike tree-based models where feature importances can be readily extracted, understanding 'why' TabPFN makes a certain prediction remains challenging, which can be a significant drawback in regulated industries or for debugging purposes.</a:t>
            </a:r>
            <a:endParaRPr lang="en-US" sz="1200" dirty="0"/>
          </a:p>
        </p:txBody>
      </p:sp>
      <p:sp>
        <p:nvSpPr>
          <p:cNvPr id="7" name="Text 5"/>
          <p:cNvSpPr/>
          <p:nvPr/>
        </p:nvSpPr>
        <p:spPr>
          <a:xfrm>
            <a:off x="626626" y="5497949"/>
            <a:ext cx="6497479" cy="1253133"/>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D4D4D1"/>
                </a:solidFill>
                <a:latin typeface="Roboto" pitchFamily="34" charset="0"/>
                <a:ea typeface="Roboto" pitchFamily="34" charset="-122"/>
                <a:cs typeface="Roboto" pitchFamily="34" charset="-120"/>
              </a:rPr>
              <a:t>Noisy Labels &amp; Outliers:</a:t>
            </a:r>
            <a:r>
              <a:rPr lang="en-US" sz="1200" dirty="0">
                <a:solidFill>
                  <a:srgbClr val="D4D4D1"/>
                </a:solidFill>
                <a:latin typeface="Roboto" pitchFamily="34" charset="0"/>
                <a:ea typeface="Roboto" pitchFamily="34" charset="-122"/>
                <a:cs typeface="Roboto" pitchFamily="34" charset="-120"/>
              </a:rPr>
              <a:t> TabPFN appeared less robust to noisy labels and extreme outliers compared to gradient boosting models, which often have built-in mechanisms (e.g., robust loss functions, tree-based regularization) to handle such imperfections. This might be attributed to its "prior-data fitted" nature, making it less adaptable to data distributions that deviate significantly from its learned prior.</a:t>
            </a:r>
            <a:endParaRPr lang="en-US" sz="1200" dirty="0"/>
          </a:p>
        </p:txBody>
      </p:sp>
      <p:pic>
        <p:nvPicPr>
          <p:cNvPr id="8" name="Image 0" descr="preencoded.png"/>
          <p:cNvPicPr>
            <a:picLocks noChangeAspect="1"/>
          </p:cNvPicPr>
          <p:nvPr/>
        </p:nvPicPr>
        <p:blipFill>
          <a:blip r:embed="rId3"/>
          <a:stretch>
            <a:fillRect/>
          </a:stretch>
        </p:blipFill>
        <p:spPr>
          <a:xfrm>
            <a:off x="7513915" y="1860113"/>
            <a:ext cx="6497479" cy="4445556"/>
          </a:xfrm>
          <a:prstGeom prst="rect">
            <a:avLst/>
          </a:prstGeom>
        </p:spPr>
      </p:pic>
      <p:sp>
        <p:nvSpPr>
          <p:cNvPr id="9" name="Text 6"/>
          <p:cNvSpPr/>
          <p:nvPr/>
        </p:nvSpPr>
        <p:spPr>
          <a:xfrm>
            <a:off x="7513915" y="6481882"/>
            <a:ext cx="6497479" cy="1253133"/>
          </a:xfrm>
          <a:prstGeom prst="rect">
            <a:avLst/>
          </a:prstGeom>
          <a:noFill/>
          <a:ln/>
        </p:spPr>
        <p:txBody>
          <a:bodyPr wrap="square" lIns="0" tIns="0" rIns="0" bIns="0" rtlCol="0" anchor="t"/>
          <a:lstStyle/>
          <a:p>
            <a:pPr marL="0" indent="0" algn="l">
              <a:lnSpc>
                <a:spcPts val="1950"/>
              </a:lnSpc>
              <a:buNone/>
            </a:pPr>
            <a:r>
              <a:rPr lang="en-US" sz="1200" dirty="0">
                <a:solidFill>
                  <a:srgbClr val="D4D4D1"/>
                </a:solidFill>
                <a:latin typeface="Roboto" pitchFamily="34" charset="0"/>
                <a:ea typeface="Roboto" pitchFamily="34" charset="-122"/>
                <a:cs typeface="Roboto" pitchFamily="34" charset="-120"/>
              </a:rPr>
              <a:t>Our analysis uncovered several notable issues and mismatches between practical application and the expectations set by the original TabPFN paper. The most prominent included a higher-than-anticipated memory footprint on larger datasets, which was not explicitly detailed, and a discernible sensitivity to data preprocessing techniques, suggesting that its "prior-data fitted" nature might introduce new dependencies.</a:t>
            </a:r>
            <a:endParaRPr lang="en-US" sz="1200" dirty="0"/>
          </a:p>
        </p:txBody>
      </p:sp>
      <p:sp>
        <p:nvSpPr>
          <p:cNvPr id="10" name="Rectangle 9">
            <a:extLst>
              <a:ext uri="{FF2B5EF4-FFF2-40B4-BE49-F238E27FC236}">
                <a16:creationId xmlns:a16="http://schemas.microsoft.com/office/drawing/2014/main" id="{BF8154A0-B0CF-8996-C5B9-D5E3F2498A2D}"/>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7471" y="777835"/>
            <a:ext cx="6621899" cy="560427"/>
          </a:xfrm>
          <a:prstGeom prst="rect">
            <a:avLst/>
          </a:prstGeom>
          <a:noFill/>
          <a:ln/>
        </p:spPr>
        <p:txBody>
          <a:bodyPr wrap="none" lIns="0" tIns="0" rIns="0" bIns="0" rtlCol="0" anchor="t"/>
          <a:lstStyle/>
          <a:p>
            <a:pPr marL="0" indent="0" algn="l">
              <a:lnSpc>
                <a:spcPts val="4400"/>
              </a:lnSpc>
              <a:buNone/>
            </a:pPr>
            <a:r>
              <a:rPr lang="en-US" sz="3500" dirty="0">
                <a:solidFill>
                  <a:srgbClr val="F3F3F2"/>
                </a:solidFill>
                <a:latin typeface="IBM Plex Sans Medium" pitchFamily="34" charset="0"/>
                <a:ea typeface="IBM Plex Sans Medium" pitchFamily="34" charset="-122"/>
                <a:cs typeface="IBM Plex Sans Medium" pitchFamily="34" charset="-120"/>
              </a:rPr>
              <a:t>Results Saving &amp; Reuse Strategy</a:t>
            </a:r>
            <a:endParaRPr lang="en-US" sz="3500" dirty="0"/>
          </a:p>
        </p:txBody>
      </p:sp>
      <p:sp>
        <p:nvSpPr>
          <p:cNvPr id="3" name="Text 1"/>
          <p:cNvSpPr/>
          <p:nvPr/>
        </p:nvSpPr>
        <p:spPr>
          <a:xfrm>
            <a:off x="717471" y="1607225"/>
            <a:ext cx="6368058" cy="336352"/>
          </a:xfrm>
          <a:prstGeom prst="rect">
            <a:avLst/>
          </a:prstGeom>
          <a:noFill/>
          <a:ln/>
        </p:spPr>
        <p:txBody>
          <a:bodyPr wrap="none" lIns="0" tIns="0" rIns="0" bIns="0" rtlCol="0" anchor="t"/>
          <a:lstStyle/>
          <a:p>
            <a:pPr marL="0" indent="0" algn="l">
              <a:lnSpc>
                <a:spcPts val="2600"/>
              </a:lnSpc>
              <a:buNone/>
            </a:pPr>
            <a:r>
              <a:rPr lang="en-US" sz="2100" dirty="0">
                <a:solidFill>
                  <a:srgbClr val="F3F3F2"/>
                </a:solidFill>
                <a:latin typeface="IBM Plex Sans Medium" pitchFamily="34" charset="0"/>
                <a:ea typeface="IBM Plex Sans Medium" pitchFamily="34" charset="-122"/>
                <a:cs typeface="IBM Plex Sans Medium" pitchFamily="34" charset="-120"/>
              </a:rPr>
              <a:t>Ensuring future visualizations and rapid re-analysis.</a:t>
            </a:r>
            <a:endParaRPr lang="en-US" sz="2100" dirty="0"/>
          </a:p>
        </p:txBody>
      </p:sp>
      <p:pic>
        <p:nvPicPr>
          <p:cNvPr id="4" name="Image 0" descr="preencoded.png"/>
          <p:cNvPicPr>
            <a:picLocks noChangeAspect="1"/>
          </p:cNvPicPr>
          <p:nvPr/>
        </p:nvPicPr>
        <p:blipFill>
          <a:blip r:embed="rId3"/>
          <a:stretch>
            <a:fillRect/>
          </a:stretch>
        </p:blipFill>
        <p:spPr>
          <a:xfrm>
            <a:off x="717471" y="2212538"/>
            <a:ext cx="6597729" cy="717471"/>
          </a:xfrm>
          <a:prstGeom prst="rect">
            <a:avLst/>
          </a:prstGeom>
        </p:spPr>
      </p:pic>
      <p:sp>
        <p:nvSpPr>
          <p:cNvPr id="5" name="Text 2"/>
          <p:cNvSpPr/>
          <p:nvPr/>
        </p:nvSpPr>
        <p:spPr>
          <a:xfrm>
            <a:off x="896779" y="3109317"/>
            <a:ext cx="2920841"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Standardized Output Format</a:t>
            </a:r>
            <a:endParaRPr lang="en-US" sz="1750" dirty="0"/>
          </a:p>
        </p:txBody>
      </p:sp>
      <p:sp>
        <p:nvSpPr>
          <p:cNvPr id="6" name="Text 3"/>
          <p:cNvSpPr/>
          <p:nvPr/>
        </p:nvSpPr>
        <p:spPr>
          <a:xfrm>
            <a:off x="896779" y="3496985"/>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All model predictions (TabPFN, AutoGluon, CatBoost, LightGBM, XGBoost) for each test set were saved as plain text (.txt) or comma-separated value (.csv) files. This ensures maximum compatibility and ease of parsing across different analytical tools.</a:t>
            </a:r>
            <a:endParaRPr lang="en-US" sz="1400" dirty="0"/>
          </a:p>
        </p:txBody>
      </p:sp>
      <p:pic>
        <p:nvPicPr>
          <p:cNvPr id="7" name="Image 1" descr="preencoded.png"/>
          <p:cNvPicPr>
            <a:picLocks noChangeAspect="1"/>
          </p:cNvPicPr>
          <p:nvPr/>
        </p:nvPicPr>
        <p:blipFill>
          <a:blip r:embed="rId4"/>
          <a:stretch>
            <a:fillRect/>
          </a:stretch>
        </p:blipFill>
        <p:spPr>
          <a:xfrm>
            <a:off x="7315200" y="2212538"/>
            <a:ext cx="6597729" cy="717471"/>
          </a:xfrm>
          <a:prstGeom prst="rect">
            <a:avLst/>
          </a:prstGeom>
        </p:spPr>
      </p:pic>
      <p:sp>
        <p:nvSpPr>
          <p:cNvPr id="8" name="Text 4"/>
          <p:cNvSpPr/>
          <p:nvPr/>
        </p:nvSpPr>
        <p:spPr>
          <a:xfrm>
            <a:off x="7494508" y="3109317"/>
            <a:ext cx="3382685"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Granular File Naming Convention</a:t>
            </a:r>
            <a:endParaRPr lang="en-US" sz="1750" dirty="0"/>
          </a:p>
        </p:txBody>
      </p:sp>
      <p:sp>
        <p:nvSpPr>
          <p:cNvPr id="9" name="Text 5"/>
          <p:cNvSpPr/>
          <p:nvPr/>
        </p:nvSpPr>
        <p:spPr>
          <a:xfrm>
            <a:off x="7494508" y="3496985"/>
            <a:ext cx="6239113" cy="116347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A consistent naming convention was adopted: </a:t>
            </a:r>
            <a:r>
              <a:rPr lang="en-US" sz="1400" dirty="0">
                <a:solidFill>
                  <a:srgbClr val="D4D4D1"/>
                </a:solidFill>
                <a:highlight>
                  <a:srgbClr val="36393F"/>
                </a:highlight>
                <a:latin typeface="Consolas" pitchFamily="34" charset="0"/>
                <a:ea typeface="Consolas" pitchFamily="34" charset="-122"/>
                <a:cs typeface="Consolas" pitchFamily="34" charset="-120"/>
              </a:rPr>
              <a:t>dataset_model_predictions.txt</a:t>
            </a:r>
            <a:r>
              <a:rPr lang="en-US" sz="1400" dirty="0">
                <a:solidFill>
                  <a:srgbClr val="D4D4D1"/>
                </a:solidFill>
                <a:latin typeface="Roboto" pitchFamily="34" charset="0"/>
                <a:ea typeface="Roboto" pitchFamily="34" charset="-122"/>
                <a:cs typeface="Roboto" pitchFamily="34" charset="-120"/>
              </a:rPr>
              <a:t> (e.g., </a:t>
            </a:r>
            <a:r>
              <a:rPr lang="en-US" sz="1400" dirty="0">
                <a:solidFill>
                  <a:srgbClr val="D4D4D1"/>
                </a:solidFill>
                <a:highlight>
                  <a:srgbClr val="36393F"/>
                </a:highlight>
                <a:latin typeface="Consolas" pitchFamily="34" charset="0"/>
                <a:ea typeface="Consolas" pitchFamily="34" charset="-122"/>
                <a:cs typeface="Consolas" pitchFamily="34" charset="-120"/>
              </a:rPr>
              <a:t>heart_TabPFN_predictions.txt</a:t>
            </a:r>
            <a:r>
              <a:rPr lang="en-US" sz="1400" dirty="0">
                <a:solidFill>
                  <a:srgbClr val="D4D4D1"/>
                </a:solidFill>
                <a:latin typeface="Roboto" pitchFamily="34" charset="0"/>
                <a:ea typeface="Roboto" pitchFamily="34" charset="-122"/>
                <a:cs typeface="Roboto" pitchFamily="34" charset="-120"/>
              </a:rPr>
              <a:t>). This highly organised structure facilitates quick retrieval and clear identification of results for specific models and datasets.</a:t>
            </a:r>
            <a:endParaRPr lang="en-US" sz="1400" dirty="0"/>
          </a:p>
        </p:txBody>
      </p:sp>
      <p:pic>
        <p:nvPicPr>
          <p:cNvPr id="10" name="Image 2" descr="preencoded.png"/>
          <p:cNvPicPr>
            <a:picLocks noChangeAspect="1"/>
          </p:cNvPicPr>
          <p:nvPr/>
        </p:nvPicPr>
        <p:blipFill>
          <a:blip r:embed="rId5"/>
          <a:stretch>
            <a:fillRect/>
          </a:stretch>
        </p:blipFill>
        <p:spPr>
          <a:xfrm>
            <a:off x="717471" y="4839772"/>
            <a:ext cx="6597729" cy="717471"/>
          </a:xfrm>
          <a:prstGeom prst="rect">
            <a:avLst/>
          </a:prstGeom>
        </p:spPr>
      </p:pic>
      <p:sp>
        <p:nvSpPr>
          <p:cNvPr id="11" name="Text 6"/>
          <p:cNvSpPr/>
          <p:nvPr/>
        </p:nvSpPr>
        <p:spPr>
          <a:xfrm>
            <a:off x="896779" y="5736550"/>
            <a:ext cx="3097054"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Enabling Future Visualizations</a:t>
            </a:r>
            <a:endParaRPr lang="en-US" sz="1750" dirty="0"/>
          </a:p>
        </p:txBody>
      </p:sp>
      <p:sp>
        <p:nvSpPr>
          <p:cNvPr id="12" name="Text 7"/>
          <p:cNvSpPr/>
          <p:nvPr/>
        </p:nvSpPr>
        <p:spPr>
          <a:xfrm>
            <a:off x="896779" y="6124218"/>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The saved prediction files are directly usable for generating a wide array of visualizations, including confusion matrices, ROC curves, precision-recall curves, and calibration plots, without needing to re-run model inference. This significantly streamlines the post-analysis phase.</a:t>
            </a:r>
            <a:endParaRPr lang="en-US" sz="1400" dirty="0"/>
          </a:p>
        </p:txBody>
      </p:sp>
      <p:pic>
        <p:nvPicPr>
          <p:cNvPr id="13" name="Image 3" descr="preencoded.png"/>
          <p:cNvPicPr>
            <a:picLocks noChangeAspect="1"/>
          </p:cNvPicPr>
          <p:nvPr/>
        </p:nvPicPr>
        <p:blipFill>
          <a:blip r:embed="rId6"/>
          <a:stretch>
            <a:fillRect/>
          </a:stretch>
        </p:blipFill>
        <p:spPr>
          <a:xfrm>
            <a:off x="7315200" y="4839772"/>
            <a:ext cx="6597729" cy="717471"/>
          </a:xfrm>
          <a:prstGeom prst="rect">
            <a:avLst/>
          </a:prstGeom>
        </p:spPr>
      </p:pic>
      <p:sp>
        <p:nvSpPr>
          <p:cNvPr id="14" name="Text 8"/>
          <p:cNvSpPr/>
          <p:nvPr/>
        </p:nvSpPr>
        <p:spPr>
          <a:xfrm>
            <a:off x="7494508" y="5736550"/>
            <a:ext cx="3024902" cy="280154"/>
          </a:xfrm>
          <a:prstGeom prst="rect">
            <a:avLst/>
          </a:prstGeom>
          <a:noFill/>
          <a:ln/>
        </p:spPr>
        <p:txBody>
          <a:bodyPr wrap="none" lIns="0" tIns="0" rIns="0" bIns="0" rtlCol="0" anchor="t"/>
          <a:lstStyle/>
          <a:p>
            <a:pPr marL="0" indent="0" algn="l">
              <a:lnSpc>
                <a:spcPts val="2200"/>
              </a:lnSpc>
              <a:buNone/>
            </a:pPr>
            <a:r>
              <a:rPr lang="en-US" sz="1750" dirty="0">
                <a:solidFill>
                  <a:srgbClr val="D4D4D1"/>
                </a:solidFill>
                <a:latin typeface="IBM Plex Sans Medium" pitchFamily="34" charset="0"/>
                <a:ea typeface="IBM Plex Sans Medium" pitchFamily="34" charset="-122"/>
                <a:cs typeface="IBM Plex Sans Medium" pitchFamily="34" charset="-120"/>
              </a:rPr>
              <a:t>Facilitating Rapid Re-analysis</a:t>
            </a:r>
            <a:endParaRPr lang="en-US" sz="1750" dirty="0"/>
          </a:p>
        </p:txBody>
      </p:sp>
      <p:sp>
        <p:nvSpPr>
          <p:cNvPr id="15" name="Text 9"/>
          <p:cNvSpPr/>
          <p:nvPr/>
        </p:nvSpPr>
        <p:spPr>
          <a:xfrm>
            <a:off x="7494508" y="6124218"/>
            <a:ext cx="6239113" cy="1148239"/>
          </a:xfrm>
          <a:prstGeom prst="rect">
            <a:avLst/>
          </a:prstGeom>
          <a:noFill/>
          <a:ln/>
        </p:spPr>
        <p:txBody>
          <a:bodyPr wrap="square" lIns="0" tIns="0" rIns="0" bIns="0" rtlCol="0" anchor="t"/>
          <a:lstStyle/>
          <a:p>
            <a:pPr marL="0" indent="0" algn="l">
              <a:lnSpc>
                <a:spcPts val="2250"/>
              </a:lnSpc>
              <a:buNone/>
            </a:pPr>
            <a:r>
              <a:rPr lang="en-US" sz="1400" dirty="0">
                <a:solidFill>
                  <a:srgbClr val="D4D4D1"/>
                </a:solidFill>
                <a:latin typeface="Roboto" pitchFamily="34" charset="0"/>
                <a:ea typeface="Roboto" pitchFamily="34" charset="-122"/>
                <a:cs typeface="Roboto" pitchFamily="34" charset="-120"/>
              </a:rPr>
              <a:t>By persisting predictions, we can perform quick re-analyses, such as comparing different evaluation metrics, applying new thresholding strategies, or investigating specific error patterns, without the computational overhead of re-training or re-predicting. This is invaluable for iterative research.</a:t>
            </a:r>
            <a:endParaRPr lang="en-US" sz="1400" dirty="0"/>
          </a:p>
        </p:txBody>
      </p:sp>
      <p:sp>
        <p:nvSpPr>
          <p:cNvPr id="16" name="Rectangle 15">
            <a:extLst>
              <a:ext uri="{FF2B5EF4-FFF2-40B4-BE49-F238E27FC236}">
                <a16:creationId xmlns:a16="http://schemas.microsoft.com/office/drawing/2014/main" id="{9835AB31-066D-B24C-CAFE-92F2F838B3C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1043" y="928092"/>
            <a:ext cx="5105043" cy="563285"/>
          </a:xfrm>
          <a:prstGeom prst="rect">
            <a:avLst/>
          </a:prstGeom>
          <a:noFill/>
          <a:ln/>
        </p:spPr>
        <p:txBody>
          <a:bodyPr wrap="none" lIns="0" tIns="0" rIns="0" bIns="0" rtlCol="0" anchor="t"/>
          <a:lstStyle/>
          <a:p>
            <a:pPr marL="0" indent="0" algn="l">
              <a:lnSpc>
                <a:spcPts val="4400"/>
              </a:lnSpc>
              <a:buNone/>
            </a:pPr>
            <a:r>
              <a:rPr lang="en-US" sz="3500" dirty="0">
                <a:solidFill>
                  <a:srgbClr val="F3F3F2"/>
                </a:solidFill>
                <a:latin typeface="IBM Plex Sans Medium" pitchFamily="34" charset="0"/>
                <a:ea typeface="IBM Plex Sans Medium" pitchFamily="34" charset="-122"/>
                <a:cs typeface="IBM Plex Sans Medium" pitchFamily="34" charset="-120"/>
              </a:rPr>
              <a:t>Conclusion &amp; Limitations</a:t>
            </a:r>
            <a:endParaRPr lang="en-US" sz="3500" dirty="0"/>
          </a:p>
        </p:txBody>
      </p:sp>
      <p:sp>
        <p:nvSpPr>
          <p:cNvPr id="3" name="Text 1"/>
          <p:cNvSpPr/>
          <p:nvPr/>
        </p:nvSpPr>
        <p:spPr>
          <a:xfrm>
            <a:off x="721043" y="1761768"/>
            <a:ext cx="5073610" cy="337899"/>
          </a:xfrm>
          <a:prstGeom prst="rect">
            <a:avLst/>
          </a:prstGeom>
          <a:noFill/>
          <a:ln/>
        </p:spPr>
        <p:txBody>
          <a:bodyPr wrap="none" lIns="0" tIns="0" rIns="0" bIns="0" rtlCol="0" anchor="t"/>
          <a:lstStyle/>
          <a:p>
            <a:pPr marL="0" indent="0" algn="l">
              <a:lnSpc>
                <a:spcPts val="2650"/>
              </a:lnSpc>
              <a:buNone/>
            </a:pPr>
            <a:r>
              <a:rPr lang="en-US" sz="2100" dirty="0">
                <a:solidFill>
                  <a:srgbClr val="F3F3F2"/>
                </a:solidFill>
                <a:latin typeface="IBM Plex Sans Medium" pitchFamily="34" charset="0"/>
                <a:ea typeface="IBM Plex Sans Medium" pitchFamily="34" charset="-122"/>
                <a:cs typeface="IBM Plex Sans Medium" pitchFamily="34" charset="-120"/>
              </a:rPr>
              <a:t>Key takeaways and identified limitations.</a:t>
            </a:r>
            <a:endParaRPr lang="en-US" sz="2100" dirty="0"/>
          </a:p>
        </p:txBody>
      </p:sp>
      <p:sp>
        <p:nvSpPr>
          <p:cNvPr id="4" name="Text 2"/>
          <p:cNvSpPr/>
          <p:nvPr/>
        </p:nvSpPr>
        <p:spPr>
          <a:xfrm>
            <a:off x="721043" y="2550319"/>
            <a:ext cx="2253377" cy="281702"/>
          </a:xfrm>
          <a:prstGeom prst="rect">
            <a:avLst/>
          </a:prstGeom>
          <a:noFill/>
          <a:ln/>
        </p:spPr>
        <p:txBody>
          <a:bodyPr wrap="none" lIns="0" tIns="0" rIns="0" bIns="0" rtlCol="0" anchor="t"/>
          <a:lstStyle/>
          <a:p>
            <a:pPr marL="0" indent="0" algn="l">
              <a:lnSpc>
                <a:spcPts val="2200"/>
              </a:lnSpc>
              <a:buNone/>
            </a:pPr>
            <a:r>
              <a:rPr lang="en-US" sz="1750" dirty="0">
                <a:solidFill>
                  <a:srgbClr val="F3F3F2"/>
                </a:solidFill>
                <a:latin typeface="IBM Plex Sans Medium" pitchFamily="34" charset="0"/>
                <a:ea typeface="IBM Plex Sans Medium" pitchFamily="34" charset="-122"/>
                <a:cs typeface="IBM Plex Sans Medium" pitchFamily="34" charset="-120"/>
              </a:rPr>
              <a:t>Key Takeaways</a:t>
            </a:r>
            <a:endParaRPr lang="en-US" sz="1750" dirty="0"/>
          </a:p>
        </p:txBody>
      </p:sp>
      <p:sp>
        <p:nvSpPr>
          <p:cNvPr id="5" name="Text 3"/>
          <p:cNvSpPr/>
          <p:nvPr/>
        </p:nvSpPr>
        <p:spPr>
          <a:xfrm>
            <a:off x="721043" y="3012281"/>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Niche for Small Data:</a:t>
            </a:r>
            <a:r>
              <a:rPr lang="en-US" sz="1400" dirty="0">
                <a:solidFill>
                  <a:srgbClr val="D4D4D1"/>
                </a:solidFill>
                <a:latin typeface="Roboto" pitchFamily="34" charset="0"/>
                <a:ea typeface="Roboto" pitchFamily="34" charset="-122"/>
                <a:cs typeface="Roboto" pitchFamily="34" charset="-120"/>
              </a:rPr>
              <a:t> TabPFN demonstrates significant promise for small-to-medium tabular datasets, offering competitive performance with unparalleled inference speed, making it an excellent choice where rapid model deployment or low-latency predictions are paramount.</a:t>
            </a:r>
            <a:endParaRPr lang="en-US" sz="1400" dirty="0"/>
          </a:p>
        </p:txBody>
      </p:sp>
      <p:sp>
        <p:nvSpPr>
          <p:cNvPr id="6" name="Text 4"/>
          <p:cNvSpPr/>
          <p:nvPr/>
        </p:nvSpPr>
        <p:spPr>
          <a:xfrm>
            <a:off x="721043" y="4228743"/>
            <a:ext cx="6374249" cy="1441847"/>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Competitive, Not Dominant:</a:t>
            </a:r>
            <a:r>
              <a:rPr lang="en-US" sz="1400" dirty="0">
                <a:solidFill>
                  <a:srgbClr val="D4D4D1"/>
                </a:solidFill>
                <a:latin typeface="Roboto" pitchFamily="34" charset="0"/>
                <a:ea typeface="Roboto" pitchFamily="34" charset="-122"/>
                <a:cs typeface="Roboto" pitchFamily="34" charset="-120"/>
              </a:rPr>
              <a:t> While strong, our analysis indicates that TabPFN does not universally outperform highly optimized and ensemble-based methods (e.g., AutoGluon, XGBoost) on larger or more complex tabular datasets, suggesting it complements rather than replaces existing state-of-the-art techniques.</a:t>
            </a:r>
            <a:endParaRPr lang="en-US" sz="1400" dirty="0"/>
          </a:p>
        </p:txBody>
      </p:sp>
      <p:sp>
        <p:nvSpPr>
          <p:cNvPr id="7" name="Text 5"/>
          <p:cNvSpPr/>
          <p:nvPr/>
        </p:nvSpPr>
        <p:spPr>
          <a:xfrm>
            <a:off x="721043" y="5733574"/>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Value of Prior-Data Fitting:</a:t>
            </a:r>
            <a:r>
              <a:rPr lang="en-US" sz="1400" dirty="0">
                <a:solidFill>
                  <a:srgbClr val="D4D4D1"/>
                </a:solidFill>
                <a:latin typeface="Roboto" pitchFamily="34" charset="0"/>
                <a:ea typeface="Roboto" pitchFamily="34" charset="-122"/>
                <a:cs typeface="Roboto" pitchFamily="34" charset="-120"/>
              </a:rPr>
              <a:t> The concept of prior-data fitting for tabular data is highly innovative and represents a compelling direction for future research, pushing the boundaries of how models can learn generalizable patterns across diverse tabular structures.</a:t>
            </a:r>
            <a:endParaRPr lang="en-US" sz="1400" dirty="0"/>
          </a:p>
        </p:txBody>
      </p:sp>
      <p:sp>
        <p:nvSpPr>
          <p:cNvPr id="8" name="Text 6"/>
          <p:cNvSpPr/>
          <p:nvPr/>
        </p:nvSpPr>
        <p:spPr>
          <a:xfrm>
            <a:off x="7542728" y="2550319"/>
            <a:ext cx="2253377" cy="281702"/>
          </a:xfrm>
          <a:prstGeom prst="rect">
            <a:avLst/>
          </a:prstGeom>
          <a:noFill/>
          <a:ln/>
        </p:spPr>
        <p:txBody>
          <a:bodyPr wrap="none" lIns="0" tIns="0" rIns="0" bIns="0" rtlCol="0" anchor="t"/>
          <a:lstStyle/>
          <a:p>
            <a:pPr marL="0" indent="0" algn="l">
              <a:lnSpc>
                <a:spcPts val="2200"/>
              </a:lnSpc>
              <a:buNone/>
            </a:pPr>
            <a:r>
              <a:rPr lang="en-US" sz="1750" dirty="0">
                <a:solidFill>
                  <a:srgbClr val="F3F3F2"/>
                </a:solidFill>
                <a:latin typeface="IBM Plex Sans Medium" pitchFamily="34" charset="0"/>
                <a:ea typeface="IBM Plex Sans Medium" pitchFamily="34" charset="-122"/>
                <a:cs typeface="IBM Plex Sans Medium" pitchFamily="34" charset="-120"/>
              </a:rPr>
              <a:t>Identified Limitations</a:t>
            </a:r>
            <a:endParaRPr lang="en-US" sz="1750" dirty="0"/>
          </a:p>
        </p:txBody>
      </p:sp>
      <p:sp>
        <p:nvSpPr>
          <p:cNvPr id="9" name="Text 7"/>
          <p:cNvSpPr/>
          <p:nvPr/>
        </p:nvSpPr>
        <p:spPr>
          <a:xfrm>
            <a:off x="7542728" y="3012281"/>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Scalability &amp; Memory:</a:t>
            </a:r>
            <a:r>
              <a:rPr lang="en-US" sz="1400" dirty="0">
                <a:solidFill>
                  <a:srgbClr val="D4D4D1"/>
                </a:solidFill>
                <a:latin typeface="Roboto" pitchFamily="34" charset="0"/>
                <a:ea typeface="Roboto" pitchFamily="34" charset="-122"/>
                <a:cs typeface="Roboto" pitchFamily="34" charset="-120"/>
              </a:rPr>
              <a:t> TabPFN's current implementation exhibits scalability limitations regarding memory consumption on larger datasets, potentially restricting its direct application in big data scenarios without significant architectural or hardware considerations.</a:t>
            </a:r>
            <a:endParaRPr lang="en-US" sz="1400" dirty="0"/>
          </a:p>
        </p:txBody>
      </p:sp>
      <p:sp>
        <p:nvSpPr>
          <p:cNvPr id="10" name="Text 8"/>
          <p:cNvSpPr/>
          <p:nvPr/>
        </p:nvSpPr>
        <p:spPr>
          <a:xfrm>
            <a:off x="7542728" y="4228743"/>
            <a:ext cx="6374249" cy="8651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Preprocessing Sensitivity:</a:t>
            </a:r>
            <a:r>
              <a:rPr lang="en-US" sz="1400" dirty="0">
                <a:solidFill>
                  <a:srgbClr val="D4D4D1"/>
                </a:solidFill>
                <a:latin typeface="Roboto" pitchFamily="34" charset="0"/>
                <a:ea typeface="Roboto" pitchFamily="34" charset="-122"/>
                <a:cs typeface="Roboto" pitchFamily="34" charset="-120"/>
              </a:rPr>
              <a:t> Despite its "fitted" nature, the model showed sensitivity to data preprocessing nuances, implying that careful feature engineering and data normalization remain critical for optimal performance.</a:t>
            </a:r>
            <a:endParaRPr lang="en-US" sz="1400" dirty="0"/>
          </a:p>
        </p:txBody>
      </p:sp>
      <p:sp>
        <p:nvSpPr>
          <p:cNvPr id="11" name="Text 9"/>
          <p:cNvSpPr/>
          <p:nvPr/>
        </p:nvSpPr>
        <p:spPr>
          <a:xfrm>
            <a:off x="7542728" y="5156835"/>
            <a:ext cx="6374249" cy="8651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Lack of Interpretability:</a:t>
            </a:r>
            <a:r>
              <a:rPr lang="en-US" sz="1400" dirty="0">
                <a:solidFill>
                  <a:srgbClr val="D4D4D1"/>
                </a:solidFill>
                <a:latin typeface="Roboto" pitchFamily="34" charset="0"/>
                <a:ea typeface="Roboto" pitchFamily="34" charset="-122"/>
                <a:cs typeface="Roboto" pitchFamily="34" charset="-120"/>
              </a:rPr>
              <a:t> Similar to many black-box models, TabPFN offers limited insights into its decision-making process, which can hinder its adoption in applications requiring transparency or explainability.</a:t>
            </a:r>
            <a:endParaRPr lang="en-US" sz="1400" dirty="0"/>
          </a:p>
        </p:txBody>
      </p:sp>
      <p:sp>
        <p:nvSpPr>
          <p:cNvPr id="12" name="Text 10"/>
          <p:cNvSpPr/>
          <p:nvPr/>
        </p:nvSpPr>
        <p:spPr>
          <a:xfrm>
            <a:off x="7542728" y="6084927"/>
            <a:ext cx="6374249" cy="115347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4D4D1"/>
                </a:solidFill>
                <a:latin typeface="Roboto" pitchFamily="34" charset="0"/>
                <a:ea typeface="Roboto" pitchFamily="34" charset="-122"/>
                <a:cs typeface="Roboto" pitchFamily="34" charset="-120"/>
              </a:rPr>
              <a:t>Outlier and Noise Robustness:</a:t>
            </a:r>
            <a:r>
              <a:rPr lang="en-US" sz="1400" dirty="0">
                <a:solidFill>
                  <a:srgbClr val="D4D4D1"/>
                </a:solidFill>
                <a:latin typeface="Roboto" pitchFamily="34" charset="0"/>
                <a:ea typeface="Roboto" pitchFamily="34" charset="-122"/>
                <a:cs typeface="Roboto" pitchFamily="34" charset="-120"/>
              </a:rPr>
              <a:t> The model appeared less robust to highly noisy data or extreme outliers compared to iterative, ensemble-based approaches, suggesting its performance might degrade in real-world datasets with significant data quality issues.</a:t>
            </a:r>
            <a:endParaRPr lang="en-US" sz="1400" dirty="0"/>
          </a:p>
        </p:txBody>
      </p:sp>
      <p:sp>
        <p:nvSpPr>
          <p:cNvPr id="13" name="Rectangle 12">
            <a:extLst>
              <a:ext uri="{FF2B5EF4-FFF2-40B4-BE49-F238E27FC236}">
                <a16:creationId xmlns:a16="http://schemas.microsoft.com/office/drawing/2014/main" id="{46C60477-3AA5-1CE9-B1B5-D9BC23FF75AA}"/>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13234"/>
            <a:ext cx="6412111"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Final Thoughts &amp; Next Steps</a:t>
            </a:r>
            <a:endParaRPr lang="en-US" sz="3900" dirty="0"/>
          </a:p>
        </p:txBody>
      </p:sp>
      <p:sp>
        <p:nvSpPr>
          <p:cNvPr id="3" name="Text 1"/>
          <p:cNvSpPr/>
          <p:nvPr/>
        </p:nvSpPr>
        <p:spPr>
          <a:xfrm>
            <a:off x="793790" y="2130147"/>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Our comprehensive analysis of TabPFN has provided invaluable insights into the capabilities and current limitations of Tabular Foundation Models. While TabPFN represents a significant leap forward, particularly for small dataset scenarios and rapid inference, its practical application still requires careful consideration of data scale, preprocessing, and interpretability requirements. The journey towards truly universal tabular foundation models is ongoing, and this research serves as a crucial step in that direction.</a:t>
            </a:r>
            <a:endParaRPr lang="en-US" sz="1550" dirty="0"/>
          </a:p>
        </p:txBody>
      </p:sp>
      <p:sp>
        <p:nvSpPr>
          <p:cNvPr id="4" name="Text 2"/>
          <p:cNvSpPr/>
          <p:nvPr/>
        </p:nvSpPr>
        <p:spPr>
          <a:xfrm>
            <a:off x="793790" y="369796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3F3F2"/>
                </a:solidFill>
                <a:latin typeface="IBM Plex Sans Medium" pitchFamily="34" charset="0"/>
                <a:ea typeface="IBM Plex Sans Medium" pitchFamily="34" charset="-122"/>
                <a:cs typeface="IBM Plex Sans Medium" pitchFamily="34" charset="-120"/>
              </a:rPr>
              <a:t>Future Work:</a:t>
            </a:r>
            <a:endParaRPr lang="en-US" sz="2300" dirty="0"/>
          </a:p>
        </p:txBody>
      </p:sp>
      <p:sp>
        <p:nvSpPr>
          <p:cNvPr id="5" name="Text 3"/>
          <p:cNvSpPr/>
          <p:nvPr/>
        </p:nvSpPr>
        <p:spPr>
          <a:xfrm>
            <a:off x="793790" y="4367689"/>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Hybrid Approaches:</a:t>
            </a:r>
            <a:r>
              <a:rPr lang="en-US" sz="1550" dirty="0">
                <a:solidFill>
                  <a:srgbClr val="D4D4D1"/>
                </a:solidFill>
                <a:latin typeface="Roboto" pitchFamily="34" charset="0"/>
                <a:ea typeface="Roboto" pitchFamily="34" charset="-122"/>
                <a:cs typeface="Roboto" pitchFamily="34" charset="-120"/>
              </a:rPr>
              <a:t> Explore hybrid models that combine TabPFN's rapid inference with the robustness and scalability of gradient boosting methods for improved performance across diverse dataset sizes.</a:t>
            </a:r>
            <a:endParaRPr lang="en-US" sz="1550" dirty="0"/>
          </a:p>
        </p:txBody>
      </p:sp>
      <p:sp>
        <p:nvSpPr>
          <p:cNvPr id="6" name="Text 4"/>
          <p:cNvSpPr/>
          <p:nvPr/>
        </p:nvSpPr>
        <p:spPr>
          <a:xfrm>
            <a:off x="793790" y="5072182"/>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Interpretability Enhancements:</a:t>
            </a:r>
            <a:r>
              <a:rPr lang="en-US" sz="1550" dirty="0">
                <a:solidFill>
                  <a:srgbClr val="D4D4D1"/>
                </a:solidFill>
                <a:latin typeface="Roboto" pitchFamily="34" charset="0"/>
                <a:ea typeface="Roboto" pitchFamily="34" charset="-122"/>
                <a:cs typeface="Roboto" pitchFamily="34" charset="-120"/>
              </a:rPr>
              <a:t> Investigate techniques to enhance the interpretability of TabPFN's predictions, possibly through post-hoc explanation methods or by integrating inherently interpretable components.</a:t>
            </a:r>
            <a:endParaRPr lang="en-US" sz="1550" dirty="0"/>
          </a:p>
        </p:txBody>
      </p:sp>
      <p:sp>
        <p:nvSpPr>
          <p:cNvPr id="7" name="Text 5"/>
          <p:cNvSpPr/>
          <p:nvPr/>
        </p:nvSpPr>
        <p:spPr>
          <a:xfrm>
            <a:off x="793790" y="5776674"/>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Robustness to Noise:</a:t>
            </a:r>
            <a:r>
              <a:rPr lang="en-US" sz="1550" dirty="0">
                <a:solidFill>
                  <a:srgbClr val="D4D4D1"/>
                </a:solidFill>
                <a:latin typeface="Roboto" pitchFamily="34" charset="0"/>
                <a:ea typeface="Roboto" pitchFamily="34" charset="-122"/>
                <a:cs typeface="Roboto" pitchFamily="34" charset="-120"/>
              </a:rPr>
              <a:t> Develop strategies to improve TabPFN's robustness to noisy labels and outliers, making it more resilient in real-world, imperfect datasets.</a:t>
            </a:r>
            <a:endParaRPr lang="en-US" sz="1550" dirty="0"/>
          </a:p>
        </p:txBody>
      </p:sp>
      <p:sp>
        <p:nvSpPr>
          <p:cNvPr id="8" name="Text 6"/>
          <p:cNvSpPr/>
          <p:nvPr/>
        </p:nvSpPr>
        <p:spPr>
          <a:xfrm>
            <a:off x="793790" y="6481167"/>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4D4D1"/>
                </a:solidFill>
                <a:latin typeface="Roboto" pitchFamily="34" charset="0"/>
                <a:ea typeface="Roboto" pitchFamily="34" charset="-122"/>
                <a:cs typeface="Roboto" pitchFamily="34" charset="-120"/>
              </a:rPr>
              <a:t>Scalability Optimisation:</a:t>
            </a:r>
            <a:r>
              <a:rPr lang="en-US" sz="1550" dirty="0">
                <a:solidFill>
                  <a:srgbClr val="D4D4D1"/>
                </a:solidFill>
                <a:latin typeface="Roboto" pitchFamily="34" charset="0"/>
                <a:ea typeface="Roboto" pitchFamily="34" charset="-122"/>
                <a:cs typeface="Roboto" pitchFamily="34" charset="-120"/>
              </a:rPr>
              <a:t> Further research into architectural or training optimisations to reduce TabPFN's memory footprint and enhance its scalability for very large tabular datasets.</a:t>
            </a:r>
            <a:endParaRPr lang="en-US" sz="1550" dirty="0"/>
          </a:p>
        </p:txBody>
      </p:sp>
      <p:sp>
        <p:nvSpPr>
          <p:cNvPr id="9" name="Rectangle 8">
            <a:extLst>
              <a:ext uri="{FF2B5EF4-FFF2-40B4-BE49-F238E27FC236}">
                <a16:creationId xmlns:a16="http://schemas.microsoft.com/office/drawing/2014/main" id="{C0CD82D2-89DA-0B33-BE23-38066E79A82E}"/>
              </a:ext>
            </a:extLst>
          </p:cNvPr>
          <p:cNvSpPr/>
          <p:nvPr/>
        </p:nvSpPr>
        <p:spPr>
          <a:xfrm>
            <a:off x="12757532" y="7711807"/>
            <a:ext cx="1850834" cy="429658"/>
          </a:xfrm>
          <a:prstGeom prst="rect">
            <a:avLst/>
          </a:prstGeom>
          <a:solidFill>
            <a:srgbClr val="292C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2285</Words>
  <Application>Microsoft Office PowerPoint</Application>
  <PresentationFormat>Custom</PresentationFormat>
  <Paragraphs>112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IBM Plex Sans Medium</vt:lpstr>
      <vt:lpstr>Consolas</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Satya Prakash Mohanty</cp:lastModifiedBy>
  <cp:revision>4</cp:revision>
  <dcterms:created xsi:type="dcterms:W3CDTF">2025-08-03T07:45:59Z</dcterms:created>
  <dcterms:modified xsi:type="dcterms:W3CDTF">2025-08-04T17:41:27Z</dcterms:modified>
</cp:coreProperties>
</file>